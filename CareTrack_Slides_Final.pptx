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8288000" cy="10287000"/>
  <p:notesSz cx="6858000" cy="9144000"/>
  <p:embeddedFontLst>
    <p:embeddedFont>
      <p:font typeface="Calibri (MS)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Calibri (MS) Italics" panose="020B0604020202020204" charset="0"/>
      <p:regular r:id="rId16"/>
    </p:embeddedFont>
    <p:embeddedFont>
      <p:font typeface="Cambria Bold" panose="02040803050406030204" pitchFamily="18" charset="0"/>
      <p:bold r:id="rId17"/>
    </p:embeddedFont>
    <p:embeddedFont>
      <p:font typeface="Cambria Bold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rontend-nine-lyart-89.vercel.app/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89120" y="6309360"/>
            <a:ext cx="10287000" cy="10287000"/>
            <a:chOff x="0" y="0"/>
            <a:chExt cx="13716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6858000"/>
                  </a:moveTo>
                  <a:cubicBezTo>
                    <a:pt x="0" y="3070479"/>
                    <a:pt x="3070479" y="0"/>
                    <a:pt x="6858000" y="0"/>
                  </a:cubicBezTo>
                  <a:cubicBezTo>
                    <a:pt x="10645521" y="0"/>
                    <a:pt x="13716000" y="3070479"/>
                    <a:pt x="13716000" y="6858000"/>
                  </a:cubicBezTo>
                  <a:cubicBezTo>
                    <a:pt x="13716000" y="10645521"/>
                    <a:pt x="10645521" y="13716000"/>
                    <a:pt x="6858000" y="13716000"/>
                  </a:cubicBezTo>
                  <a:cubicBezTo>
                    <a:pt x="3070479" y="13716000"/>
                    <a:pt x="0" y="10645521"/>
                    <a:pt x="0" y="6858000"/>
                  </a:cubicBezTo>
                  <a:close/>
                </a:path>
              </a:pathLst>
            </a:custGeom>
            <a:solidFill>
              <a:srgbClr val="0B2E2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76120" y="-3566160"/>
            <a:ext cx="7543800" cy="7543800"/>
            <a:chOff x="0" y="0"/>
            <a:chExt cx="10058400" cy="1005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0" cy="10058400"/>
            </a:xfrm>
            <a:custGeom>
              <a:avLst/>
              <a:gdLst/>
              <a:ahLst/>
              <a:cxnLst/>
              <a:rect l="l" t="t" r="r" b="b"/>
              <a:pathLst>
                <a:path w="10058400" h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0B2E2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891540"/>
            <a:ext cx="850392" cy="850392"/>
            <a:chOff x="0" y="0"/>
            <a:chExt cx="1133856" cy="11338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8704" y="1070124"/>
            <a:ext cx="493224" cy="493224"/>
            <a:chOff x="0" y="0"/>
            <a:chExt cx="657631" cy="657631"/>
          </a:xfrm>
        </p:grpSpPr>
        <p:sp>
          <p:nvSpPr>
            <p:cNvPr id="9" name="Freeform 9" descr="/home/claude/assets/icons/heartbeat.png"/>
            <p:cNvSpPr/>
            <p:nvPr/>
          </p:nvSpPr>
          <p:spPr>
            <a:xfrm>
              <a:off x="0" y="0"/>
              <a:ext cx="657606" cy="657606"/>
            </a:xfrm>
            <a:custGeom>
              <a:avLst/>
              <a:gdLst/>
              <a:ahLst/>
              <a:cxnLst/>
              <a:rect l="l" t="t" r="r" b="b"/>
              <a:pathLst>
                <a:path w="657606" h="657606">
                  <a:moveTo>
                    <a:pt x="0" y="0"/>
                  </a:moveTo>
                  <a:lnTo>
                    <a:pt x="657606" y="0"/>
                  </a:lnTo>
                  <a:lnTo>
                    <a:pt x="657606" y="657606"/>
                  </a:lnTo>
                  <a:lnTo>
                    <a:pt x="0" y="657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3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57400" y="754380"/>
            <a:ext cx="8229600" cy="1188720"/>
            <a:chOff x="0" y="0"/>
            <a:chExt cx="10972800" cy="15849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0" cy="1280160"/>
            </a:xfrm>
            <a:custGeom>
              <a:avLst/>
              <a:gdLst/>
              <a:ahLst/>
              <a:cxnLst/>
              <a:rect l="l" t="t" r="r" b="b"/>
              <a:pathLst>
                <a:path w="10972800" h="128016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7014" b="-11701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85749"/>
              <a:ext cx="10972800" cy="12992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6600" b="1" dirty="0" err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CareTrack</a:t>
              </a:r>
              <a:endParaRPr lang="en-US" sz="6600" b="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0120" y="3223260"/>
            <a:ext cx="9738360" cy="2880360"/>
            <a:chOff x="0" y="0"/>
            <a:chExt cx="12984480" cy="38404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84480" cy="3840480"/>
            </a:xfrm>
            <a:custGeom>
              <a:avLst/>
              <a:gdLst/>
              <a:ahLst/>
              <a:cxnLst/>
              <a:rect l="l" t="t" r="r" b="b"/>
              <a:pathLst>
                <a:path w="12984480" h="3840480">
                  <a:moveTo>
                    <a:pt x="0" y="0"/>
                  </a:moveTo>
                  <a:lnTo>
                    <a:pt x="12984480" y="0"/>
                  </a:lnTo>
                  <a:lnTo>
                    <a:pt x="1298448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877" b="-1587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8100"/>
              <a:ext cx="12984480" cy="3802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799"/>
                </a:lnSpc>
              </a:pPr>
              <a:r>
                <a:rPr lang="en-US" sz="6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Never miss the</a:t>
              </a:r>
            </a:p>
            <a:p>
              <a:pPr algn="l">
                <a:lnSpc>
                  <a:spcPts val="7799"/>
                </a:lnSpc>
              </a:pPr>
              <a:r>
                <a:rPr lang="en-US" sz="6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weeks in between.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7552" y="5966460"/>
            <a:ext cx="8778240" cy="1234440"/>
            <a:chOff x="0" y="0"/>
            <a:chExt cx="11704320" cy="16459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04320" cy="1645920"/>
            </a:xfrm>
            <a:custGeom>
              <a:avLst/>
              <a:gdLst/>
              <a:ahLst/>
              <a:cxnLst/>
              <a:rect l="l" t="t" r="r" b="b"/>
              <a:pathLst>
                <a:path w="11704320" h="1645920">
                  <a:moveTo>
                    <a:pt x="0" y="0"/>
                  </a:moveTo>
                  <a:lnTo>
                    <a:pt x="11704320" y="0"/>
                  </a:lnTo>
                  <a:lnTo>
                    <a:pt x="117043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8560" b="-8856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1704320" cy="1731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0"/>
                </a:lnSpc>
              </a:pPr>
              <a:r>
                <a:rPr lang="en-US" sz="240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follow-up and chronic disease tracking built for local clinics.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 rot="241679">
            <a:off x="957967" y="8695372"/>
            <a:ext cx="813540" cy="0"/>
          </a:xfrm>
          <a:prstGeom prst="line">
            <a:avLst/>
          </a:prstGeom>
          <a:ln w="28575" cap="rnd">
            <a:solidFill>
              <a:srgbClr val="E87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grpSp>
        <p:nvGrpSpPr>
          <p:cNvPr id="20" name="Group 20"/>
          <p:cNvGrpSpPr/>
          <p:nvPr/>
        </p:nvGrpSpPr>
        <p:grpSpPr>
          <a:xfrm>
            <a:off x="987552" y="8915400"/>
            <a:ext cx="8229600" cy="480060"/>
            <a:chOff x="0" y="0"/>
            <a:chExt cx="10972800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25">
                  <a:solidFill>
                    <a:srgbClr val="CFE8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HACKATHON 2026   ·   TEAM CARETRACK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550140" y="1028700"/>
            <a:ext cx="4594860" cy="4059936"/>
            <a:chOff x="0" y="0"/>
            <a:chExt cx="6126480" cy="5413248"/>
          </a:xfrm>
        </p:grpSpPr>
        <p:sp>
          <p:nvSpPr>
            <p:cNvPr id="24" name="Freeform 24" descr="/home/claude/assets/phone_mockup.png"/>
            <p:cNvSpPr/>
            <p:nvPr/>
          </p:nvSpPr>
          <p:spPr>
            <a:xfrm>
              <a:off x="0" y="0"/>
              <a:ext cx="6126480" cy="5413248"/>
            </a:xfrm>
            <a:custGeom>
              <a:avLst/>
              <a:gdLst/>
              <a:ahLst/>
              <a:cxnLst/>
              <a:rect l="l" t="t" r="r" b="b"/>
              <a:pathLst>
                <a:path w="6126480" h="5413248">
                  <a:moveTo>
                    <a:pt x="0" y="0"/>
                  </a:moveTo>
                  <a:lnTo>
                    <a:pt x="6126480" y="0"/>
                  </a:lnTo>
                  <a:lnTo>
                    <a:pt x="6126480" y="5413248"/>
                  </a:lnTo>
                  <a:lnTo>
                    <a:pt x="0" y="5413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" r="-14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03455" y="5271135"/>
            <a:ext cx="4888230" cy="1459230"/>
            <a:chOff x="0" y="0"/>
            <a:chExt cx="6517640" cy="1945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17640" cy="1945640"/>
            </a:xfrm>
            <a:custGeom>
              <a:avLst/>
              <a:gdLst/>
              <a:ahLst/>
              <a:cxnLst/>
              <a:rect l="l" t="t" r="r" b="b"/>
              <a:pathLst>
                <a:path w="6517640" h="1945640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6295263" y="0"/>
                  </a:lnTo>
                  <a:cubicBezTo>
                    <a:pt x="6418072" y="0"/>
                    <a:pt x="6517640" y="99568"/>
                    <a:pt x="6517640" y="222377"/>
                  </a:cubicBezTo>
                  <a:lnTo>
                    <a:pt x="6517640" y="1723263"/>
                  </a:lnTo>
                  <a:cubicBezTo>
                    <a:pt x="6517640" y="1846072"/>
                    <a:pt x="6418072" y="1945640"/>
                    <a:pt x="6295263" y="1945640"/>
                  </a:cubicBezTo>
                  <a:lnTo>
                    <a:pt x="222377" y="1945640"/>
                  </a:lnTo>
                  <a:cubicBezTo>
                    <a:pt x="99568" y="1945640"/>
                    <a:pt x="0" y="1846072"/>
                    <a:pt x="0" y="1723263"/>
                  </a:cubicBezTo>
                  <a:close/>
                </a:path>
              </a:pathLst>
            </a:custGeom>
            <a:solidFill>
              <a:srgbClr val="0B2E2B"/>
            </a:solidFill>
            <a:ln w="19050" cap="sq">
              <a:solidFill>
                <a:srgbClr val="E8734A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687300" y="5417820"/>
            <a:ext cx="4320540" cy="1165860"/>
            <a:chOff x="0" y="0"/>
            <a:chExt cx="5760720" cy="15544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760720" cy="1554480"/>
            </a:xfrm>
            <a:custGeom>
              <a:avLst/>
              <a:gdLst/>
              <a:ahLst/>
              <a:cxnLst/>
              <a:rect l="l" t="t" r="r" b="b"/>
              <a:pathLst>
                <a:path w="5760720" h="1554480">
                  <a:moveTo>
                    <a:pt x="0" y="0"/>
                  </a:moveTo>
                  <a:lnTo>
                    <a:pt x="5760720" y="0"/>
                  </a:lnTo>
                  <a:lnTo>
                    <a:pt x="57607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209" b="-2220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5760720" cy="1611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650" dirty="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with React, Node, Express &amp; </a:t>
              </a:r>
              <a:r>
                <a:rPr lang="en-US" sz="1650" dirty="0" err="1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Supabase</a:t>
              </a:r>
              <a:r>
                <a:rPr lang="en-US" sz="1650" dirty="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— </a:t>
              </a:r>
              <a:r>
                <a:rPr lang="en-US" sz="165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app install required.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10560" y="-2194560"/>
            <a:ext cx="5486400" cy="5486400"/>
            <a:chOff x="0" y="0"/>
            <a:chExt cx="7315200" cy="731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PEOPLE BEHIND IT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" y="1165860"/>
            <a:ext cx="9601200" cy="1028700"/>
            <a:chOff x="0" y="0"/>
            <a:chExt cx="1280160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01600" cy="1371600"/>
            </a:xfrm>
            <a:custGeom>
              <a:avLst/>
              <a:gdLst/>
              <a:ahLst/>
              <a:cxnLst/>
              <a:rect l="l" t="t" r="r" b="b"/>
              <a:pathLst>
                <a:path w="12801600" h="1371600">
                  <a:moveTo>
                    <a:pt x="0" y="0"/>
                  </a:moveTo>
                  <a:lnTo>
                    <a:pt x="12801600" y="0"/>
                  </a:lnTo>
                  <a:lnTo>
                    <a:pt x="12801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860" b="-13186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280160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10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Our Team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0120" y="2948940"/>
            <a:ext cx="5143500" cy="2811780"/>
            <a:chOff x="0" y="0"/>
            <a:chExt cx="6858000" cy="3749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0" cy="3749040"/>
            </a:xfrm>
            <a:custGeom>
              <a:avLst/>
              <a:gdLst/>
              <a:ahLst/>
              <a:cxnLst/>
              <a:rect l="l" t="t" r="r" b="b"/>
              <a:pathLst>
                <a:path w="6858000" h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3566160"/>
                  </a:lnTo>
                  <a:cubicBezTo>
                    <a:pt x="6858000" y="3667125"/>
                    <a:pt x="6776085" y="3749040"/>
                    <a:pt x="667512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00" y="3429000"/>
            <a:ext cx="1303020" cy="1303020"/>
            <a:chOff x="0" y="0"/>
            <a:chExt cx="1737360" cy="1737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1600" y="3429000"/>
            <a:ext cx="1303020" cy="1303020"/>
            <a:chOff x="0" y="0"/>
            <a:chExt cx="1737360" cy="1737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7373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80360" y="3607308"/>
            <a:ext cx="2948940" cy="548640"/>
            <a:chOff x="0" y="0"/>
            <a:chExt cx="3931920" cy="7315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931920" cy="731520"/>
            </a:xfrm>
            <a:custGeom>
              <a:avLst/>
              <a:gdLst/>
              <a:ahLst/>
              <a:cxnLst/>
              <a:rect l="l" t="t" r="r" b="b"/>
              <a:pathLst>
                <a:path w="3931920" h="7315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9319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Ahmad Zulfiqar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80360" y="3977640"/>
            <a:ext cx="2948940" cy="480060"/>
            <a:chOff x="0" y="0"/>
            <a:chExt cx="3931920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 dirty="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LEADER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83680" y="2948940"/>
            <a:ext cx="5143500" cy="2811780"/>
            <a:chOff x="0" y="0"/>
            <a:chExt cx="6858000" cy="37490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858000" cy="3749040"/>
            </a:xfrm>
            <a:custGeom>
              <a:avLst/>
              <a:gdLst/>
              <a:ahLst/>
              <a:cxnLst/>
              <a:rect l="l" t="t" r="r" b="b"/>
              <a:pathLst>
                <a:path w="6858000" h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3566160"/>
                  </a:lnTo>
                  <a:cubicBezTo>
                    <a:pt x="6858000" y="3667125"/>
                    <a:pt x="6776085" y="3749040"/>
                    <a:pt x="667512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995160" y="3429000"/>
            <a:ext cx="1303020" cy="1303020"/>
            <a:chOff x="0" y="0"/>
            <a:chExt cx="1737360" cy="17373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995160" y="3429000"/>
            <a:ext cx="1303020" cy="1303020"/>
            <a:chOff x="0" y="0"/>
            <a:chExt cx="1737360" cy="17373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7373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03920" y="3607308"/>
            <a:ext cx="2948940" cy="548640"/>
            <a:chOff x="0" y="0"/>
            <a:chExt cx="3931920" cy="7315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31920" cy="731520"/>
            </a:xfrm>
            <a:custGeom>
              <a:avLst/>
              <a:gdLst/>
              <a:ahLst/>
              <a:cxnLst/>
              <a:rect l="l" t="t" r="r" b="b"/>
              <a:pathLst>
                <a:path w="3931920" h="7315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39319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Fatima Ghafoor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03920" y="3924300"/>
            <a:ext cx="2948940" cy="533400"/>
            <a:chOff x="0" y="0"/>
            <a:chExt cx="3931920" cy="711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3302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07240" y="2948940"/>
            <a:ext cx="5143500" cy="2811780"/>
            <a:chOff x="0" y="0"/>
            <a:chExt cx="6858000" cy="37490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858000" cy="3749040"/>
            </a:xfrm>
            <a:custGeom>
              <a:avLst/>
              <a:gdLst/>
              <a:ahLst/>
              <a:cxnLst/>
              <a:rect l="l" t="t" r="r" b="b"/>
              <a:pathLst>
                <a:path w="6858000" h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3566160"/>
                  </a:lnTo>
                  <a:cubicBezTo>
                    <a:pt x="6858000" y="3667125"/>
                    <a:pt x="6776085" y="3749040"/>
                    <a:pt x="667512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618720" y="3429000"/>
            <a:ext cx="1303020" cy="1303020"/>
            <a:chOff x="0" y="0"/>
            <a:chExt cx="1737360" cy="17373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618720" y="3429000"/>
            <a:ext cx="1303020" cy="1303020"/>
            <a:chOff x="0" y="0"/>
            <a:chExt cx="1737360" cy="17373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7373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127480" y="3607308"/>
            <a:ext cx="2948940" cy="548640"/>
            <a:chOff x="0" y="0"/>
            <a:chExt cx="393192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931920" cy="731520"/>
            </a:xfrm>
            <a:custGeom>
              <a:avLst/>
              <a:gdLst/>
              <a:ahLst/>
              <a:cxnLst/>
              <a:rect l="l" t="t" r="r" b="b"/>
              <a:pathLst>
                <a:path w="3931920" h="7315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39319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Alisha Javed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127480" y="3924300"/>
            <a:ext cx="2948940" cy="670560"/>
            <a:chOff x="0" y="-254000"/>
            <a:chExt cx="3931920" cy="8940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5400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0120" y="6309360"/>
            <a:ext cx="5143500" cy="2811780"/>
            <a:chOff x="0" y="0"/>
            <a:chExt cx="6858000" cy="37490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858000" cy="3749040"/>
            </a:xfrm>
            <a:custGeom>
              <a:avLst/>
              <a:gdLst/>
              <a:ahLst/>
              <a:cxnLst/>
              <a:rect l="l" t="t" r="r" b="b"/>
              <a:pathLst>
                <a:path w="6858000" h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3566160"/>
                  </a:lnTo>
                  <a:cubicBezTo>
                    <a:pt x="6858000" y="3667125"/>
                    <a:pt x="6776085" y="3749040"/>
                    <a:pt x="667512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71600" y="6789420"/>
            <a:ext cx="1303020" cy="1303020"/>
            <a:chOff x="0" y="0"/>
            <a:chExt cx="1737360" cy="17373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71600" y="6789420"/>
            <a:ext cx="1303020" cy="1303020"/>
            <a:chOff x="0" y="0"/>
            <a:chExt cx="1737360" cy="17373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7373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880360" y="6967728"/>
            <a:ext cx="2948940" cy="548640"/>
            <a:chOff x="0" y="0"/>
            <a:chExt cx="393192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931920" cy="731520"/>
            </a:xfrm>
            <a:custGeom>
              <a:avLst/>
              <a:gdLst/>
              <a:ahLst/>
              <a:cxnLst/>
              <a:rect l="l" t="t" r="r" b="b"/>
              <a:pathLst>
                <a:path w="3931920" h="7315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39319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Emaan Sohail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80360" y="7277100"/>
            <a:ext cx="2948940" cy="678180"/>
            <a:chOff x="0" y="-264160"/>
            <a:chExt cx="3931920" cy="9042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26416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591300" y="6309360"/>
            <a:ext cx="5143500" cy="2811780"/>
            <a:chOff x="0" y="0"/>
            <a:chExt cx="6858000" cy="37490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6858000" cy="3749040"/>
            </a:xfrm>
            <a:custGeom>
              <a:avLst/>
              <a:gdLst/>
              <a:ahLst/>
              <a:cxnLst/>
              <a:rect l="l" t="t" r="r" b="b"/>
              <a:pathLst>
                <a:path w="6858000" h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3566160"/>
                  </a:lnTo>
                  <a:cubicBezTo>
                    <a:pt x="6858000" y="3667125"/>
                    <a:pt x="6776085" y="3749040"/>
                    <a:pt x="667512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995160" y="6736080"/>
            <a:ext cx="1303020" cy="1303020"/>
            <a:chOff x="0" y="-264160"/>
            <a:chExt cx="1737360" cy="1737360"/>
          </a:xfrm>
        </p:grpSpPr>
        <p:sp>
          <p:nvSpPr>
            <p:cNvPr id="65" name="Freeform 65"/>
            <p:cNvSpPr/>
            <p:nvPr/>
          </p:nvSpPr>
          <p:spPr>
            <a:xfrm>
              <a:off x="0" y="-264160"/>
              <a:ext cx="1737360" cy="1737360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995160" y="6721792"/>
            <a:ext cx="1303020" cy="1317308"/>
            <a:chOff x="0" y="-19050"/>
            <a:chExt cx="1737360" cy="1756410"/>
          </a:xfrm>
        </p:grpSpPr>
        <p:sp>
          <p:nvSpPr>
            <p:cNvPr id="67" name="Freeform 67"/>
            <p:cNvSpPr/>
            <p:nvPr/>
          </p:nvSpPr>
          <p:spPr>
            <a:xfrm>
              <a:off x="0" y="1"/>
              <a:ext cx="1737360" cy="1737358"/>
            </a:xfrm>
            <a:custGeom>
              <a:avLst/>
              <a:gdLst/>
              <a:ahLst/>
              <a:cxnLst/>
              <a:rect l="l" t="t" r="r" b="b"/>
              <a:pathLst>
                <a:path w="1737360" h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1737360" cy="1756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503920" y="6967728"/>
            <a:ext cx="2948940" cy="548640"/>
            <a:chOff x="0" y="0"/>
            <a:chExt cx="3931920" cy="7315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931920" cy="731520"/>
            </a:xfrm>
            <a:custGeom>
              <a:avLst/>
              <a:gdLst/>
              <a:ahLst/>
              <a:cxnLst/>
              <a:rect l="l" t="t" r="r" b="b"/>
              <a:pathLst>
                <a:path w="3931920" h="7315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39319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dirty="0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Ibrahim Usman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778240" y="7612380"/>
            <a:ext cx="2948940" cy="655320"/>
            <a:chOff x="0" y="0"/>
            <a:chExt cx="3931920" cy="87376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19558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179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03097552323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207240" y="6309360"/>
            <a:ext cx="5143500" cy="2811780"/>
            <a:chOff x="0" y="0"/>
            <a:chExt cx="6858000" cy="37490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6858000" cy="3749040"/>
            </a:xfrm>
            <a:custGeom>
              <a:avLst/>
              <a:gdLst/>
              <a:ahLst/>
              <a:cxnLst/>
              <a:rect l="l" t="t" r="r" b="b"/>
              <a:pathLst>
                <a:path w="6858000" h="3749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3566160"/>
                  </a:lnTo>
                  <a:cubicBezTo>
                    <a:pt x="6858000" y="3667125"/>
                    <a:pt x="6776085" y="3749040"/>
                    <a:pt x="6675120" y="3749040"/>
                  </a:cubicBezTo>
                  <a:lnTo>
                    <a:pt x="182880" y="3749040"/>
                  </a:lnTo>
                  <a:cubicBezTo>
                    <a:pt x="81915" y="3749040"/>
                    <a:pt x="0" y="3667125"/>
                    <a:pt x="0" y="356616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80" name="Freeform 80"/>
          <p:cNvSpPr/>
          <p:nvPr/>
        </p:nvSpPr>
        <p:spPr>
          <a:xfrm>
            <a:off x="10515600" y="6812281"/>
            <a:ext cx="1303020" cy="1303021"/>
          </a:xfrm>
          <a:custGeom>
            <a:avLst/>
            <a:gdLst/>
            <a:ahLst/>
            <a:cxnLst/>
            <a:rect l="l" t="t" r="r" b="b"/>
            <a:pathLst>
              <a:path w="1737360" h="1737360">
                <a:moveTo>
                  <a:pt x="0" y="0"/>
                </a:moveTo>
                <a:lnTo>
                  <a:pt x="1737360" y="0"/>
                </a:lnTo>
                <a:lnTo>
                  <a:pt x="1737360" y="1737360"/>
                </a:lnTo>
                <a:lnTo>
                  <a:pt x="0" y="173736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l="-78303" r="-78303"/>
            </a:stretch>
          </a:blipFill>
        </p:spPr>
        <p:txBody>
          <a:bodyPr/>
          <a:lstStyle/>
          <a:p>
            <a:endParaRPr lang="en-PK" dirty="0"/>
          </a:p>
        </p:txBody>
      </p:sp>
      <p:grpSp>
        <p:nvGrpSpPr>
          <p:cNvPr id="82" name="Group 82"/>
          <p:cNvGrpSpPr/>
          <p:nvPr/>
        </p:nvGrpSpPr>
        <p:grpSpPr>
          <a:xfrm>
            <a:off x="14127480" y="6967728"/>
            <a:ext cx="2948940" cy="548640"/>
            <a:chOff x="0" y="0"/>
            <a:chExt cx="3931920" cy="73152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931920" cy="731520"/>
            </a:xfrm>
            <a:custGeom>
              <a:avLst/>
              <a:gdLst/>
              <a:ahLst/>
              <a:cxnLst/>
              <a:rect l="l" t="t" r="r" b="b"/>
              <a:pathLst>
                <a:path w="3931920" h="731520">
                  <a:moveTo>
                    <a:pt x="0" y="0"/>
                  </a:moveTo>
                  <a:lnTo>
                    <a:pt x="3931920" y="0"/>
                  </a:lnTo>
                  <a:lnTo>
                    <a:pt x="3931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4732" b="-5473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57150"/>
              <a:ext cx="39319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dirty="0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Zaid Maqsood</a:t>
              </a:r>
            </a:p>
          </p:txBody>
        </p:sp>
      </p:grpSp>
      <p:sp>
        <p:nvSpPr>
          <p:cNvPr id="86" name="Freeform 86"/>
          <p:cNvSpPr/>
          <p:nvPr/>
        </p:nvSpPr>
        <p:spPr>
          <a:xfrm>
            <a:off x="14127480" y="7475220"/>
            <a:ext cx="2948940" cy="480060"/>
          </a:xfrm>
          <a:custGeom>
            <a:avLst/>
            <a:gdLst/>
            <a:ahLst/>
            <a:cxnLst/>
            <a:rect l="l" t="t" r="r" b="b"/>
            <a:pathLst>
              <a:path w="3931920" h="640080">
                <a:moveTo>
                  <a:pt x="0" y="0"/>
                </a:moveTo>
                <a:lnTo>
                  <a:pt x="3931920" y="0"/>
                </a:lnTo>
                <a:lnTo>
                  <a:pt x="3931920" y="640080"/>
                </a:lnTo>
                <a:lnTo>
                  <a:pt x="0" y="64008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69693" b="-69693"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88" name="Group 88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2935244" y="7833986"/>
            <a:ext cx="2690261" cy="474347"/>
            <a:chOff x="0" y="0"/>
            <a:chExt cx="3931920" cy="69327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931920" cy="693276"/>
            </a:xfrm>
            <a:custGeom>
              <a:avLst/>
              <a:gdLst/>
              <a:ahLst/>
              <a:cxnLst/>
              <a:rect l="l" t="t" r="r" b="b"/>
              <a:pathLst>
                <a:path w="3931920" h="693276">
                  <a:moveTo>
                    <a:pt x="0" y="0"/>
                  </a:moveTo>
                  <a:lnTo>
                    <a:pt x="3931920" y="0"/>
                  </a:lnTo>
                  <a:lnTo>
                    <a:pt x="3931920" y="693276"/>
                  </a:lnTo>
                  <a:lnTo>
                    <a:pt x="0" y="6932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346" b="-5667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38100"/>
              <a:ext cx="3931920" cy="7313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 b="1" spc="17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03282366246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2880360" y="8092440"/>
            <a:ext cx="3200402" cy="559633"/>
            <a:chOff x="0" y="0"/>
            <a:chExt cx="3931920" cy="687549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931920" cy="687549"/>
            </a:xfrm>
            <a:custGeom>
              <a:avLst/>
              <a:gdLst/>
              <a:ahLst/>
              <a:cxnLst/>
              <a:rect l="l" t="t" r="r" b="b"/>
              <a:pathLst>
                <a:path w="3931920" h="687549">
                  <a:moveTo>
                    <a:pt x="0" y="0"/>
                  </a:moveTo>
                  <a:lnTo>
                    <a:pt x="3931920" y="0"/>
                  </a:lnTo>
                  <a:lnTo>
                    <a:pt x="3931920" y="687549"/>
                  </a:lnTo>
                  <a:lnTo>
                    <a:pt x="0" y="6875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882" b="-5797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0" y="-28575"/>
              <a:ext cx="3931920" cy="7161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59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emaansohail321@gmail.com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2843202" y="8541549"/>
            <a:ext cx="3010201" cy="520364"/>
            <a:chOff x="0" y="-77262"/>
            <a:chExt cx="4549553" cy="78646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470360" cy="709205"/>
            </a:xfrm>
            <a:custGeom>
              <a:avLst/>
              <a:gdLst/>
              <a:ahLst/>
              <a:cxnLst/>
              <a:rect l="l" t="t" r="r" b="b"/>
              <a:pathLst>
                <a:path w="4470360" h="709205">
                  <a:moveTo>
                    <a:pt x="0" y="0"/>
                  </a:moveTo>
                  <a:lnTo>
                    <a:pt x="4470360" y="0"/>
                  </a:lnTo>
                  <a:lnTo>
                    <a:pt x="4470360" y="709205"/>
                  </a:lnTo>
                  <a:lnTo>
                    <a:pt x="0" y="7092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00" r="12044" b="-531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79193" y="-77262"/>
              <a:ext cx="4470360" cy="7377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59"/>
                </a:lnSpc>
              </a:pPr>
              <a:r>
                <a:rPr lang="en-US" sz="1299" b="1" spc="129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https://www.linkedin.com/in/emaan-sohail-226118381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762361" y="7955280"/>
            <a:ext cx="2948940" cy="617220"/>
            <a:chOff x="0" y="0"/>
            <a:chExt cx="3931920" cy="82296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931920" cy="560436"/>
            </a:xfrm>
            <a:custGeom>
              <a:avLst/>
              <a:gdLst/>
              <a:ahLst/>
              <a:cxnLst/>
              <a:rect l="l" t="t" r="r" b="b"/>
              <a:pathLst>
                <a:path w="3931920" h="560436">
                  <a:moveTo>
                    <a:pt x="0" y="0"/>
                  </a:moveTo>
                  <a:lnTo>
                    <a:pt x="3931920" y="0"/>
                  </a:lnTo>
                  <a:lnTo>
                    <a:pt x="3931920" y="560436"/>
                  </a:lnTo>
                  <a:lnTo>
                    <a:pt x="0" y="5604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598" b="-93809"/>
              </a:stretch>
            </a:blip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224424"/>
              <a:ext cx="3931920" cy="5985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ibrahiman2468@gmail.com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8695835" y="8383329"/>
            <a:ext cx="2948940" cy="646371"/>
            <a:chOff x="0" y="0"/>
            <a:chExt cx="3931920" cy="861828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931920" cy="650826"/>
            </a:xfrm>
            <a:custGeom>
              <a:avLst/>
              <a:gdLst/>
              <a:ahLst/>
              <a:cxnLst/>
              <a:rect l="l" t="t" r="r" b="b"/>
              <a:pathLst>
                <a:path w="3931920" h="650826">
                  <a:moveTo>
                    <a:pt x="0" y="0"/>
                  </a:moveTo>
                  <a:lnTo>
                    <a:pt x="3931920" y="0"/>
                  </a:lnTo>
                  <a:lnTo>
                    <a:pt x="3931920" y="650826"/>
                  </a:lnTo>
                  <a:lnTo>
                    <a:pt x="0" y="65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43" b="-6689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182425"/>
              <a:ext cx="3931920" cy="679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b="1" spc="14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https://www.linkedin.com/in/ibrahimusman56/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4199172" y="4443984"/>
            <a:ext cx="2948940" cy="480060"/>
            <a:chOff x="0" y="0"/>
            <a:chExt cx="3931920" cy="640080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3810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 b="1" spc="17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03049844656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4199172" y="4706334"/>
            <a:ext cx="3171315" cy="516261"/>
            <a:chOff x="0" y="0"/>
            <a:chExt cx="3931920" cy="64008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-28575"/>
              <a:ext cx="393192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59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alishajaved177@gmail.com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4199172" y="5143500"/>
            <a:ext cx="2948940" cy="533953"/>
            <a:chOff x="0" y="-61112"/>
            <a:chExt cx="3931920" cy="71193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931920" cy="650826"/>
            </a:xfrm>
            <a:custGeom>
              <a:avLst/>
              <a:gdLst/>
              <a:ahLst/>
              <a:cxnLst/>
              <a:rect l="l" t="t" r="r" b="b"/>
              <a:pathLst>
                <a:path w="3931920" h="650826">
                  <a:moveTo>
                    <a:pt x="0" y="0"/>
                  </a:moveTo>
                  <a:lnTo>
                    <a:pt x="3931920" y="0"/>
                  </a:lnTo>
                  <a:lnTo>
                    <a:pt x="3931920" y="650826"/>
                  </a:lnTo>
                  <a:lnTo>
                    <a:pt x="0" y="65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43" b="-6689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0" y="-61112"/>
              <a:ext cx="3931920" cy="6794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b="1" spc="14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https://www.linkedin.com/in/alisha-javed-b78b38362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2784348" y="4491990"/>
            <a:ext cx="2948940" cy="480060"/>
            <a:chOff x="0" y="0"/>
            <a:chExt cx="3931920" cy="64008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 b="1" spc="17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03015979771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8451527" y="7370445"/>
            <a:ext cx="2523773" cy="410847"/>
            <a:chOff x="0" y="0"/>
            <a:chExt cx="3931920" cy="640080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0" y="-38100"/>
              <a:ext cx="39319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5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2784348" y="4638578"/>
            <a:ext cx="3319272" cy="648966"/>
            <a:chOff x="0" y="-28575"/>
            <a:chExt cx="3931920" cy="768747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3931920" cy="740172"/>
            </a:xfrm>
            <a:custGeom>
              <a:avLst/>
              <a:gdLst/>
              <a:ahLst/>
              <a:cxnLst/>
              <a:rect l="l" t="t" r="r" b="b"/>
              <a:pathLst>
                <a:path w="3931920" h="740172">
                  <a:moveTo>
                    <a:pt x="0" y="0"/>
                  </a:moveTo>
                  <a:lnTo>
                    <a:pt x="3931920" y="0"/>
                  </a:lnTo>
                  <a:lnTo>
                    <a:pt x="3931920" y="740172"/>
                  </a:lnTo>
                  <a:lnTo>
                    <a:pt x="0" y="740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269" b="-46746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0" y="-28575"/>
              <a:ext cx="3931920" cy="768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919"/>
                </a:lnSpc>
              </a:pPr>
              <a:r>
                <a:rPr lang="en-US" sz="1500" b="1" spc="159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ahmadzulifqarali098@gmail.com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2784348" y="5072367"/>
            <a:ext cx="2992054" cy="538914"/>
            <a:chOff x="0" y="0"/>
            <a:chExt cx="3931920" cy="708199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3931920" cy="708199"/>
            </a:xfrm>
            <a:custGeom>
              <a:avLst/>
              <a:gdLst/>
              <a:ahLst/>
              <a:cxnLst/>
              <a:rect l="l" t="t" r="r" b="b"/>
              <a:pathLst>
                <a:path w="3931920" h="708199">
                  <a:moveTo>
                    <a:pt x="0" y="0"/>
                  </a:moveTo>
                  <a:lnTo>
                    <a:pt x="3931920" y="0"/>
                  </a:lnTo>
                  <a:lnTo>
                    <a:pt x="3931920" y="708199"/>
                  </a:lnTo>
                  <a:lnTo>
                    <a:pt x="0" y="7081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990" b="-5337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-28575"/>
              <a:ext cx="3931920" cy="7367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b="1" spc="14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https://www.linkedin.com/in/ahmadzulfiqarali/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503920" y="4475607"/>
            <a:ext cx="2948940" cy="416814"/>
            <a:chOff x="0" y="0"/>
            <a:chExt cx="3931920" cy="555752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3931920" cy="555752"/>
            </a:xfrm>
            <a:custGeom>
              <a:avLst/>
              <a:gdLst/>
              <a:ahLst/>
              <a:cxnLst/>
              <a:rect l="l" t="t" r="r" b="b"/>
              <a:pathLst>
                <a:path w="3931920" h="555752">
                  <a:moveTo>
                    <a:pt x="0" y="0"/>
                  </a:moveTo>
                  <a:lnTo>
                    <a:pt x="3931920" y="0"/>
                  </a:lnTo>
                  <a:lnTo>
                    <a:pt x="3931920" y="555752"/>
                  </a:lnTo>
                  <a:lnTo>
                    <a:pt x="0" y="555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268" b="-9544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-38100"/>
              <a:ext cx="3931920" cy="593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40"/>
                </a:lnSpc>
              </a:pPr>
              <a:r>
                <a:rPr lang="en-US" sz="1700" b="1" spc="17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03066994040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8503920" y="4652391"/>
            <a:ext cx="3332770" cy="542544"/>
            <a:chOff x="0" y="0"/>
            <a:chExt cx="3931920" cy="64008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3931920" cy="640080"/>
            </a:xfrm>
            <a:custGeom>
              <a:avLst/>
              <a:gdLst/>
              <a:ahLst/>
              <a:cxnLst/>
              <a:rect l="l" t="t" r="r" b="b"/>
              <a:pathLst>
                <a:path w="3931920" h="640080">
                  <a:moveTo>
                    <a:pt x="0" y="0"/>
                  </a:moveTo>
                  <a:lnTo>
                    <a:pt x="3931920" y="0"/>
                  </a:lnTo>
                  <a:lnTo>
                    <a:pt x="3931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9693" b="-696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0" y="-28575"/>
              <a:ext cx="3931920" cy="668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59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fatimagafoor005@gmail.com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529318" y="4914900"/>
            <a:ext cx="2948940" cy="865426"/>
            <a:chOff x="0" y="-180043"/>
            <a:chExt cx="3931920" cy="1153902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931920" cy="973859"/>
            </a:xfrm>
            <a:custGeom>
              <a:avLst/>
              <a:gdLst/>
              <a:ahLst/>
              <a:cxnLst/>
              <a:rect l="l" t="t" r="r" b="b"/>
              <a:pathLst>
                <a:path w="3931920" h="973859">
                  <a:moveTo>
                    <a:pt x="0" y="0"/>
                  </a:moveTo>
                  <a:lnTo>
                    <a:pt x="3931920" y="0"/>
                  </a:lnTo>
                  <a:lnTo>
                    <a:pt x="3931920" y="973859"/>
                  </a:lnTo>
                  <a:lnTo>
                    <a:pt x="0" y="9738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807" b="-1153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0" y="-180043"/>
              <a:ext cx="3931920" cy="1002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80"/>
                </a:lnSpc>
              </a:pPr>
              <a:r>
                <a:rPr lang="en-US" sz="1400" b="1" spc="14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https://www.linkedin.com/in/fatima-ghafoor-682498371/</a:t>
              </a:r>
            </a:p>
          </p:txBody>
        </p:sp>
      </p:grpSp>
      <p:sp>
        <p:nvSpPr>
          <p:cNvPr id="136" name="Freeform 136"/>
          <p:cNvSpPr/>
          <p:nvPr/>
        </p:nvSpPr>
        <p:spPr>
          <a:xfrm>
            <a:off x="2516313" y="8206851"/>
            <a:ext cx="270619" cy="202964"/>
          </a:xfrm>
          <a:custGeom>
            <a:avLst/>
            <a:gdLst/>
            <a:ahLst/>
            <a:cxnLst/>
            <a:rect l="l" t="t" r="r" b="b"/>
            <a:pathLst>
              <a:path w="270619" h="202964">
                <a:moveTo>
                  <a:pt x="0" y="0"/>
                </a:moveTo>
                <a:lnTo>
                  <a:pt x="270619" y="0"/>
                </a:lnTo>
                <a:lnTo>
                  <a:pt x="270619" y="202964"/>
                </a:lnTo>
                <a:lnTo>
                  <a:pt x="0" y="202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37" name="Freeform 137"/>
          <p:cNvSpPr/>
          <p:nvPr/>
        </p:nvSpPr>
        <p:spPr>
          <a:xfrm>
            <a:off x="2445987" y="4918140"/>
            <a:ext cx="205635" cy="154227"/>
          </a:xfrm>
          <a:custGeom>
            <a:avLst/>
            <a:gdLst/>
            <a:ahLst/>
            <a:cxnLst/>
            <a:rect l="l" t="t" r="r" b="b"/>
            <a:pathLst>
              <a:path w="205635" h="154227">
                <a:moveTo>
                  <a:pt x="0" y="0"/>
                </a:moveTo>
                <a:lnTo>
                  <a:pt x="205636" y="0"/>
                </a:lnTo>
                <a:lnTo>
                  <a:pt x="205636" y="154227"/>
                </a:lnTo>
                <a:lnTo>
                  <a:pt x="0" y="1542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38" name="Freeform 138"/>
          <p:cNvSpPr/>
          <p:nvPr/>
        </p:nvSpPr>
        <p:spPr>
          <a:xfrm>
            <a:off x="8214916" y="4858231"/>
            <a:ext cx="236611" cy="177458"/>
          </a:xfrm>
          <a:custGeom>
            <a:avLst/>
            <a:gdLst/>
            <a:ahLst/>
            <a:cxnLst/>
            <a:rect l="l" t="t" r="r" b="b"/>
            <a:pathLst>
              <a:path w="236611" h="177458">
                <a:moveTo>
                  <a:pt x="0" y="0"/>
                </a:moveTo>
                <a:lnTo>
                  <a:pt x="236611" y="0"/>
                </a:lnTo>
                <a:lnTo>
                  <a:pt x="236611" y="177458"/>
                </a:lnTo>
                <a:lnTo>
                  <a:pt x="0" y="177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39" name="Freeform 139"/>
          <p:cNvSpPr/>
          <p:nvPr/>
        </p:nvSpPr>
        <p:spPr>
          <a:xfrm>
            <a:off x="13766040" y="4855275"/>
            <a:ext cx="311400" cy="233550"/>
          </a:xfrm>
          <a:custGeom>
            <a:avLst/>
            <a:gdLst/>
            <a:ahLst/>
            <a:cxnLst/>
            <a:rect l="l" t="t" r="r" b="b"/>
            <a:pathLst>
              <a:path w="311400" h="233550">
                <a:moveTo>
                  <a:pt x="0" y="0"/>
                </a:moveTo>
                <a:lnTo>
                  <a:pt x="311400" y="0"/>
                </a:lnTo>
                <a:lnTo>
                  <a:pt x="311400" y="233550"/>
                </a:lnTo>
                <a:lnTo>
                  <a:pt x="0" y="233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0" name="Freeform 140"/>
          <p:cNvSpPr/>
          <p:nvPr/>
        </p:nvSpPr>
        <p:spPr>
          <a:xfrm>
            <a:off x="8365547" y="8303898"/>
            <a:ext cx="256536" cy="192402"/>
          </a:xfrm>
          <a:custGeom>
            <a:avLst/>
            <a:gdLst/>
            <a:ahLst/>
            <a:cxnLst/>
            <a:rect l="l" t="t" r="r" b="b"/>
            <a:pathLst>
              <a:path w="256536" h="192402">
                <a:moveTo>
                  <a:pt x="0" y="0"/>
                </a:moveTo>
                <a:lnTo>
                  <a:pt x="256536" y="0"/>
                </a:lnTo>
                <a:lnTo>
                  <a:pt x="256536" y="192402"/>
                </a:lnTo>
                <a:lnTo>
                  <a:pt x="0" y="192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1" name="Freeform 141"/>
          <p:cNvSpPr/>
          <p:nvPr/>
        </p:nvSpPr>
        <p:spPr>
          <a:xfrm>
            <a:off x="13795925" y="4491990"/>
            <a:ext cx="251630" cy="251630"/>
          </a:xfrm>
          <a:custGeom>
            <a:avLst/>
            <a:gdLst/>
            <a:ahLst/>
            <a:cxnLst/>
            <a:rect l="l" t="t" r="r" b="b"/>
            <a:pathLst>
              <a:path w="251630" h="251630">
                <a:moveTo>
                  <a:pt x="0" y="0"/>
                </a:moveTo>
                <a:lnTo>
                  <a:pt x="251630" y="0"/>
                </a:lnTo>
                <a:lnTo>
                  <a:pt x="251630" y="251630"/>
                </a:lnTo>
                <a:lnTo>
                  <a:pt x="0" y="251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2" name="Freeform 142"/>
          <p:cNvSpPr/>
          <p:nvPr/>
        </p:nvSpPr>
        <p:spPr>
          <a:xfrm>
            <a:off x="2422990" y="4606600"/>
            <a:ext cx="251630" cy="251630"/>
          </a:xfrm>
          <a:custGeom>
            <a:avLst/>
            <a:gdLst/>
            <a:ahLst/>
            <a:cxnLst/>
            <a:rect l="l" t="t" r="r" b="b"/>
            <a:pathLst>
              <a:path w="251630" h="251630">
                <a:moveTo>
                  <a:pt x="0" y="0"/>
                </a:moveTo>
                <a:lnTo>
                  <a:pt x="251630" y="0"/>
                </a:lnTo>
                <a:lnTo>
                  <a:pt x="251630" y="251631"/>
                </a:lnTo>
                <a:lnTo>
                  <a:pt x="0" y="2516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3" name="Freeform 143"/>
          <p:cNvSpPr/>
          <p:nvPr/>
        </p:nvSpPr>
        <p:spPr>
          <a:xfrm>
            <a:off x="8358970" y="7939870"/>
            <a:ext cx="251630" cy="251630"/>
          </a:xfrm>
          <a:custGeom>
            <a:avLst/>
            <a:gdLst/>
            <a:ahLst/>
            <a:cxnLst/>
            <a:rect l="l" t="t" r="r" b="b"/>
            <a:pathLst>
              <a:path w="251630" h="251630">
                <a:moveTo>
                  <a:pt x="0" y="0"/>
                </a:moveTo>
                <a:lnTo>
                  <a:pt x="251630" y="0"/>
                </a:lnTo>
                <a:lnTo>
                  <a:pt x="251630" y="251630"/>
                </a:lnTo>
                <a:lnTo>
                  <a:pt x="0" y="251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4" name="Freeform 144"/>
          <p:cNvSpPr/>
          <p:nvPr/>
        </p:nvSpPr>
        <p:spPr>
          <a:xfrm>
            <a:off x="8174818" y="4526576"/>
            <a:ext cx="251630" cy="251630"/>
          </a:xfrm>
          <a:custGeom>
            <a:avLst/>
            <a:gdLst/>
            <a:ahLst/>
            <a:cxnLst/>
            <a:rect l="l" t="t" r="r" b="b"/>
            <a:pathLst>
              <a:path w="251630" h="251630">
                <a:moveTo>
                  <a:pt x="0" y="0"/>
                </a:moveTo>
                <a:lnTo>
                  <a:pt x="251630" y="0"/>
                </a:lnTo>
                <a:lnTo>
                  <a:pt x="251630" y="251630"/>
                </a:lnTo>
                <a:lnTo>
                  <a:pt x="0" y="251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5" name="Freeform 145"/>
          <p:cNvSpPr/>
          <p:nvPr/>
        </p:nvSpPr>
        <p:spPr>
          <a:xfrm>
            <a:off x="2575390" y="7897631"/>
            <a:ext cx="267813" cy="267813"/>
          </a:xfrm>
          <a:custGeom>
            <a:avLst/>
            <a:gdLst/>
            <a:ahLst/>
            <a:cxnLst/>
            <a:rect l="l" t="t" r="r" b="b"/>
            <a:pathLst>
              <a:path w="267813" h="267813">
                <a:moveTo>
                  <a:pt x="0" y="0"/>
                </a:moveTo>
                <a:lnTo>
                  <a:pt x="267812" y="0"/>
                </a:lnTo>
                <a:lnTo>
                  <a:pt x="267812" y="267812"/>
                </a:lnTo>
                <a:lnTo>
                  <a:pt x="0" y="267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6" name="Freeform 146"/>
          <p:cNvSpPr/>
          <p:nvPr/>
        </p:nvSpPr>
        <p:spPr>
          <a:xfrm>
            <a:off x="2445987" y="5143500"/>
            <a:ext cx="278899" cy="238459"/>
          </a:xfrm>
          <a:custGeom>
            <a:avLst/>
            <a:gdLst/>
            <a:ahLst/>
            <a:cxnLst/>
            <a:rect l="l" t="t" r="r" b="b"/>
            <a:pathLst>
              <a:path w="278899" h="238459">
                <a:moveTo>
                  <a:pt x="0" y="0"/>
                </a:moveTo>
                <a:lnTo>
                  <a:pt x="278899" y="0"/>
                </a:lnTo>
                <a:lnTo>
                  <a:pt x="278899" y="238459"/>
                </a:lnTo>
                <a:lnTo>
                  <a:pt x="0" y="23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7" name="Freeform 147"/>
          <p:cNvSpPr/>
          <p:nvPr/>
        </p:nvSpPr>
        <p:spPr>
          <a:xfrm>
            <a:off x="8382000" y="8638841"/>
            <a:ext cx="278899" cy="238459"/>
          </a:xfrm>
          <a:custGeom>
            <a:avLst/>
            <a:gdLst/>
            <a:ahLst/>
            <a:cxnLst/>
            <a:rect l="l" t="t" r="r" b="b"/>
            <a:pathLst>
              <a:path w="278899" h="238459">
                <a:moveTo>
                  <a:pt x="0" y="0"/>
                </a:moveTo>
                <a:lnTo>
                  <a:pt x="278899" y="0"/>
                </a:lnTo>
                <a:lnTo>
                  <a:pt x="278899" y="238459"/>
                </a:lnTo>
                <a:lnTo>
                  <a:pt x="0" y="23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8" name="Freeform 148"/>
          <p:cNvSpPr/>
          <p:nvPr/>
        </p:nvSpPr>
        <p:spPr>
          <a:xfrm>
            <a:off x="8214916" y="5133641"/>
            <a:ext cx="278899" cy="238459"/>
          </a:xfrm>
          <a:custGeom>
            <a:avLst/>
            <a:gdLst/>
            <a:ahLst/>
            <a:cxnLst/>
            <a:rect l="l" t="t" r="r" b="b"/>
            <a:pathLst>
              <a:path w="278899" h="238459">
                <a:moveTo>
                  <a:pt x="0" y="0"/>
                </a:moveTo>
                <a:lnTo>
                  <a:pt x="278899" y="0"/>
                </a:lnTo>
                <a:lnTo>
                  <a:pt x="278899" y="238459"/>
                </a:lnTo>
                <a:lnTo>
                  <a:pt x="0" y="23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9" name="Freeform 149"/>
          <p:cNvSpPr/>
          <p:nvPr/>
        </p:nvSpPr>
        <p:spPr>
          <a:xfrm>
            <a:off x="2540501" y="8572500"/>
            <a:ext cx="278899" cy="238459"/>
          </a:xfrm>
          <a:custGeom>
            <a:avLst/>
            <a:gdLst/>
            <a:ahLst/>
            <a:cxnLst/>
            <a:rect l="l" t="t" r="r" b="b"/>
            <a:pathLst>
              <a:path w="278899" h="238459">
                <a:moveTo>
                  <a:pt x="0" y="0"/>
                </a:moveTo>
                <a:lnTo>
                  <a:pt x="278899" y="0"/>
                </a:lnTo>
                <a:lnTo>
                  <a:pt x="278899" y="238458"/>
                </a:lnTo>
                <a:lnTo>
                  <a:pt x="0" y="2384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50" name="Freeform 150"/>
          <p:cNvSpPr/>
          <p:nvPr/>
        </p:nvSpPr>
        <p:spPr>
          <a:xfrm>
            <a:off x="13782290" y="5194935"/>
            <a:ext cx="278899" cy="238459"/>
          </a:xfrm>
          <a:custGeom>
            <a:avLst/>
            <a:gdLst/>
            <a:ahLst/>
            <a:cxnLst/>
            <a:rect l="l" t="t" r="r" b="b"/>
            <a:pathLst>
              <a:path w="278899" h="238459">
                <a:moveTo>
                  <a:pt x="0" y="0"/>
                </a:moveTo>
                <a:lnTo>
                  <a:pt x="278900" y="0"/>
                </a:lnTo>
                <a:lnTo>
                  <a:pt x="278900" y="238459"/>
                </a:lnTo>
                <a:lnTo>
                  <a:pt x="0" y="23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52" name="TextBox 120">
            <a:extLst>
              <a:ext uri="{FF2B5EF4-FFF2-40B4-BE49-F238E27FC236}">
                <a16:creationId xmlns:a16="http://schemas.microsoft.com/office/drawing/2014/main" id="{0B033E80-44C2-5985-0E39-469919FD09FE}"/>
              </a:ext>
            </a:extLst>
          </p:cNvPr>
          <p:cNvSpPr txBox="1"/>
          <p:nvPr/>
        </p:nvSpPr>
        <p:spPr>
          <a:xfrm>
            <a:off x="14011627" y="7353300"/>
            <a:ext cx="2523773" cy="43530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800"/>
              </a:lnSpc>
            </a:pPr>
            <a:r>
              <a:rPr lang="en-US" sz="1500" b="1" spc="150" dirty="0">
                <a:solidFill>
                  <a:srgbClr val="5B7A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</a:t>
            </a:r>
          </a:p>
        </p:txBody>
      </p:sp>
      <p:grpSp>
        <p:nvGrpSpPr>
          <p:cNvPr id="153" name="Group 103">
            <a:extLst>
              <a:ext uri="{FF2B5EF4-FFF2-40B4-BE49-F238E27FC236}">
                <a16:creationId xmlns:a16="http://schemas.microsoft.com/office/drawing/2014/main" id="{8998C114-B198-D033-6C3F-0C1869F2D16D}"/>
              </a:ext>
            </a:extLst>
          </p:cNvPr>
          <p:cNvGrpSpPr/>
          <p:nvPr/>
        </p:nvGrpSpPr>
        <p:grpSpPr>
          <a:xfrm>
            <a:off x="13891260" y="8383329"/>
            <a:ext cx="3307080" cy="646371"/>
            <a:chOff x="0" y="0"/>
            <a:chExt cx="4409440" cy="861828"/>
          </a:xfrm>
        </p:grpSpPr>
        <p:sp>
          <p:nvSpPr>
            <p:cNvPr id="154" name="Freeform 104">
              <a:extLst>
                <a:ext uri="{FF2B5EF4-FFF2-40B4-BE49-F238E27FC236}">
                  <a16:creationId xmlns:a16="http://schemas.microsoft.com/office/drawing/2014/main" id="{8DD57218-3882-F3E3-7F54-DD8747583419}"/>
                </a:ext>
              </a:extLst>
            </p:cNvPr>
            <p:cNvSpPr/>
            <p:nvPr/>
          </p:nvSpPr>
          <p:spPr>
            <a:xfrm>
              <a:off x="0" y="0"/>
              <a:ext cx="3931920" cy="650826"/>
            </a:xfrm>
            <a:custGeom>
              <a:avLst/>
              <a:gdLst/>
              <a:ahLst/>
              <a:cxnLst/>
              <a:rect l="l" t="t" r="r" b="b"/>
              <a:pathLst>
                <a:path w="3931920" h="650826">
                  <a:moveTo>
                    <a:pt x="0" y="0"/>
                  </a:moveTo>
                  <a:lnTo>
                    <a:pt x="3931920" y="0"/>
                  </a:lnTo>
                  <a:lnTo>
                    <a:pt x="3931920" y="650826"/>
                  </a:lnTo>
                  <a:lnTo>
                    <a:pt x="0" y="650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543" b="-6689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55" name="TextBox 105">
              <a:extLst>
                <a:ext uri="{FF2B5EF4-FFF2-40B4-BE49-F238E27FC236}">
                  <a16:creationId xmlns:a16="http://schemas.microsoft.com/office/drawing/2014/main" id="{9EA985E0-3CB3-F991-0881-E54AC81D9047}"/>
                </a:ext>
              </a:extLst>
            </p:cNvPr>
            <p:cNvSpPr txBox="1"/>
            <p:nvPr/>
          </p:nvSpPr>
          <p:spPr>
            <a:xfrm>
              <a:off x="477520" y="182425"/>
              <a:ext cx="3931920" cy="679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1680"/>
                </a:lnSpc>
              </a:pPr>
              <a:r>
                <a:rPr lang="en-US" sz="1400" b="1" spc="140" dirty="0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https://www.linkedin.com/in/m-zaid-maqsood-9ba7782b1/</a:t>
              </a:r>
            </a:p>
          </p:txBody>
        </p:sp>
      </p:grpSp>
      <p:sp>
        <p:nvSpPr>
          <p:cNvPr id="160" name="TextBox 102">
            <a:extLst>
              <a:ext uri="{FF2B5EF4-FFF2-40B4-BE49-F238E27FC236}">
                <a16:creationId xmlns:a16="http://schemas.microsoft.com/office/drawing/2014/main" id="{1B65FBE1-9F76-66B7-EE22-48DD9885850B}"/>
              </a:ext>
            </a:extLst>
          </p:cNvPr>
          <p:cNvSpPr txBox="1"/>
          <p:nvPr/>
        </p:nvSpPr>
        <p:spPr>
          <a:xfrm>
            <a:off x="14249400" y="8115300"/>
            <a:ext cx="2948940" cy="44890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800"/>
              </a:lnSpc>
            </a:pPr>
            <a:r>
              <a:rPr lang="en-US" sz="1500" b="1" spc="150" dirty="0">
                <a:solidFill>
                  <a:srgbClr val="5B7A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zaidmaqsood248@gmail.com</a:t>
            </a:r>
          </a:p>
        </p:txBody>
      </p:sp>
      <p:sp>
        <p:nvSpPr>
          <p:cNvPr id="162" name="TextBox 93">
            <a:extLst>
              <a:ext uri="{FF2B5EF4-FFF2-40B4-BE49-F238E27FC236}">
                <a16:creationId xmlns:a16="http://schemas.microsoft.com/office/drawing/2014/main" id="{F44512B1-6306-6036-129A-75F307203497}"/>
              </a:ext>
            </a:extLst>
          </p:cNvPr>
          <p:cNvSpPr txBox="1"/>
          <p:nvPr/>
        </p:nvSpPr>
        <p:spPr>
          <a:xfrm>
            <a:off x="14302339" y="7734300"/>
            <a:ext cx="2690261" cy="5004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040"/>
              </a:lnSpc>
            </a:pPr>
            <a:r>
              <a:rPr lang="en-US" sz="1700" b="1" spc="170" dirty="0">
                <a:solidFill>
                  <a:srgbClr val="5B7A7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03256498247</a:t>
            </a:r>
          </a:p>
        </p:txBody>
      </p:sp>
      <p:sp>
        <p:nvSpPr>
          <p:cNvPr id="164" name="Freeform 143">
            <a:extLst>
              <a:ext uri="{FF2B5EF4-FFF2-40B4-BE49-F238E27FC236}">
                <a16:creationId xmlns:a16="http://schemas.microsoft.com/office/drawing/2014/main" id="{46AD82BD-7F4C-26CE-818A-80FD914A2303}"/>
              </a:ext>
            </a:extLst>
          </p:cNvPr>
          <p:cNvSpPr/>
          <p:nvPr/>
        </p:nvSpPr>
        <p:spPr>
          <a:xfrm>
            <a:off x="13921570" y="7886700"/>
            <a:ext cx="251630" cy="251630"/>
          </a:xfrm>
          <a:custGeom>
            <a:avLst/>
            <a:gdLst/>
            <a:ahLst/>
            <a:cxnLst/>
            <a:rect l="l" t="t" r="r" b="b"/>
            <a:pathLst>
              <a:path w="251630" h="251630">
                <a:moveTo>
                  <a:pt x="0" y="0"/>
                </a:moveTo>
                <a:lnTo>
                  <a:pt x="251630" y="0"/>
                </a:lnTo>
                <a:lnTo>
                  <a:pt x="251630" y="251630"/>
                </a:lnTo>
                <a:lnTo>
                  <a:pt x="0" y="251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66" name="Freeform 140">
            <a:extLst>
              <a:ext uri="{FF2B5EF4-FFF2-40B4-BE49-F238E27FC236}">
                <a16:creationId xmlns:a16="http://schemas.microsoft.com/office/drawing/2014/main" id="{FAA4B568-206D-799F-E75E-7B675B3B20D2}"/>
              </a:ext>
            </a:extLst>
          </p:cNvPr>
          <p:cNvSpPr/>
          <p:nvPr/>
        </p:nvSpPr>
        <p:spPr>
          <a:xfrm>
            <a:off x="13932921" y="8313614"/>
            <a:ext cx="256536" cy="192402"/>
          </a:xfrm>
          <a:custGeom>
            <a:avLst/>
            <a:gdLst/>
            <a:ahLst/>
            <a:cxnLst/>
            <a:rect l="l" t="t" r="r" b="b"/>
            <a:pathLst>
              <a:path w="256536" h="192402">
                <a:moveTo>
                  <a:pt x="0" y="0"/>
                </a:moveTo>
                <a:lnTo>
                  <a:pt x="256536" y="0"/>
                </a:lnTo>
                <a:lnTo>
                  <a:pt x="256536" y="192402"/>
                </a:lnTo>
                <a:lnTo>
                  <a:pt x="0" y="192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68" name="Freeform 147">
            <a:extLst>
              <a:ext uri="{FF2B5EF4-FFF2-40B4-BE49-F238E27FC236}">
                <a16:creationId xmlns:a16="http://schemas.microsoft.com/office/drawing/2014/main" id="{CD326D40-691D-7F6E-0427-5A51E024336F}"/>
              </a:ext>
            </a:extLst>
          </p:cNvPr>
          <p:cNvSpPr/>
          <p:nvPr/>
        </p:nvSpPr>
        <p:spPr>
          <a:xfrm>
            <a:off x="13944600" y="8648700"/>
            <a:ext cx="278899" cy="238459"/>
          </a:xfrm>
          <a:custGeom>
            <a:avLst/>
            <a:gdLst/>
            <a:ahLst/>
            <a:cxnLst/>
            <a:rect l="l" t="t" r="r" b="b"/>
            <a:pathLst>
              <a:path w="278899" h="238459">
                <a:moveTo>
                  <a:pt x="0" y="0"/>
                </a:moveTo>
                <a:lnTo>
                  <a:pt x="278899" y="0"/>
                </a:lnTo>
                <a:lnTo>
                  <a:pt x="278899" y="238459"/>
                </a:lnTo>
                <a:lnTo>
                  <a:pt x="0" y="238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75" name="Freeform 65">
            <a:extLst>
              <a:ext uri="{FF2B5EF4-FFF2-40B4-BE49-F238E27FC236}">
                <a16:creationId xmlns:a16="http://schemas.microsoft.com/office/drawing/2014/main" id="{115DF54F-8D07-9F7D-70D8-DB43C97CBD93}"/>
              </a:ext>
            </a:extLst>
          </p:cNvPr>
          <p:cNvSpPr/>
          <p:nvPr/>
        </p:nvSpPr>
        <p:spPr>
          <a:xfrm>
            <a:off x="12489180" y="6743700"/>
            <a:ext cx="1303020" cy="1303020"/>
          </a:xfrm>
          <a:custGeom>
            <a:avLst/>
            <a:gdLst/>
            <a:ahLst/>
            <a:cxnLst/>
            <a:rect l="l" t="t" r="r" b="b"/>
            <a:pathLst>
              <a:path w="1737360" h="1737360">
                <a:moveTo>
                  <a:pt x="0" y="868680"/>
                </a:moveTo>
                <a:cubicBezTo>
                  <a:pt x="0" y="388874"/>
                  <a:pt x="388874" y="0"/>
                  <a:pt x="868680" y="0"/>
                </a:cubicBezTo>
                <a:cubicBezTo>
                  <a:pt x="1348486" y="0"/>
                  <a:pt x="1737360" y="388874"/>
                  <a:pt x="1737360" y="868680"/>
                </a:cubicBezTo>
                <a:cubicBezTo>
                  <a:pt x="1737360" y="1348486"/>
                  <a:pt x="1348486" y="1737360"/>
                  <a:pt x="868680" y="1737360"/>
                </a:cubicBezTo>
                <a:cubicBezTo>
                  <a:pt x="388874" y="1737360"/>
                  <a:pt x="0" y="1348486"/>
                  <a:pt x="0" y="868680"/>
                </a:cubicBezTo>
                <a:close/>
              </a:path>
            </a:pathLst>
          </a:custGeom>
          <a:solidFill>
            <a:srgbClr val="0F3D39"/>
          </a:solidFill>
        </p:spPr>
        <p:txBody>
          <a:bodyPr/>
          <a:lstStyle/>
          <a:p>
            <a:endParaRPr lang="en-PK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9E96F48D-1CBA-B077-BD75-3187BEE2639D}"/>
              </a:ext>
            </a:extLst>
          </p:cNvPr>
          <p:cNvSpPr txBox="1"/>
          <p:nvPr/>
        </p:nvSpPr>
        <p:spPr>
          <a:xfrm>
            <a:off x="7793083" y="7037531"/>
            <a:ext cx="106952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FE8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688" y="1234440"/>
            <a:ext cx="10012680" cy="2057400"/>
            <a:chOff x="0" y="0"/>
            <a:chExt cx="13350240" cy="2743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50239" cy="2743200"/>
            </a:xfrm>
            <a:custGeom>
              <a:avLst/>
              <a:gdLst/>
              <a:ahLst/>
              <a:cxnLst/>
              <a:rect l="l" t="t" r="r" b="b"/>
              <a:pathLst>
                <a:path w="13350239" h="2743200">
                  <a:moveTo>
                    <a:pt x="0" y="0"/>
                  </a:moveTo>
                  <a:lnTo>
                    <a:pt x="13350239" y="0"/>
                  </a:lnTo>
                  <a:lnTo>
                    <a:pt x="13350239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827" b="-4482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13350240" cy="27336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gap isn’t in the clinic —</a:t>
              </a:r>
            </a:p>
            <a:p>
              <a:pPr algn="l">
                <a:lnSpc>
                  <a:spcPts val="4800"/>
                </a:lnSpc>
              </a:pPr>
              <a:r>
                <a:rPr lang="en-US" sz="4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it’s in the weeks between visits.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3771900"/>
            <a:ext cx="192024" cy="192024"/>
            <a:chOff x="0" y="0"/>
            <a:chExt cx="256032" cy="2560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31620" y="3486150"/>
            <a:ext cx="9212580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5">
                <a:solidFill>
                  <a:srgbClr val="CFE8E1"/>
                </a:solidFill>
                <a:latin typeface="Calibri (MS)"/>
                <a:ea typeface="Calibri (MS)"/>
                <a:cs typeface="Calibri (MS)"/>
                <a:sym typeface="Calibri (MS)"/>
              </a:rPr>
              <a:t>Chronic patients (diabetes, BP, asthma) need ongoing care between visits — not just a checkup once in a while.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60120" y="5074920"/>
            <a:ext cx="192024" cy="192024"/>
            <a:chOff x="0" y="0"/>
            <a:chExt cx="256032" cy="2560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31620" y="4789170"/>
            <a:ext cx="9212580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5">
                <a:solidFill>
                  <a:srgbClr val="CFE8E1"/>
                </a:solidFill>
                <a:latin typeface="Calibri (MS)"/>
                <a:ea typeface="Calibri (MS)"/>
                <a:cs typeface="Calibri (MS)"/>
                <a:sym typeface="Calibri (MS)"/>
              </a:rPr>
              <a:t>Follow-ups, medication timing, and tests are easy to forget without reminders.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60120" y="6377940"/>
            <a:ext cx="192024" cy="192024"/>
            <a:chOff x="0" y="0"/>
            <a:chExt cx="256032" cy="25603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31620" y="6092190"/>
            <a:ext cx="9212580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5">
                <a:solidFill>
                  <a:srgbClr val="CFE8E1"/>
                </a:solidFill>
                <a:latin typeface="Calibri (MS)"/>
                <a:ea typeface="Calibri (MS)"/>
                <a:cs typeface="Calibri (MS)"/>
                <a:sym typeface="Calibri (MS)"/>
              </a:rPr>
              <a:t>Small clinics have no easy way to see which patients are falling behind.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60120" y="7680960"/>
            <a:ext cx="192024" cy="192024"/>
            <a:chOff x="0" y="0"/>
            <a:chExt cx="256032" cy="25603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56032" cy="256032"/>
            </a:xfrm>
            <a:custGeom>
              <a:avLst/>
              <a:gdLst/>
              <a:ahLst/>
              <a:cxnLst/>
              <a:rect l="l" t="t" r="r" b="b"/>
              <a:pathLst>
                <a:path w="256032" h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31620" y="7395210"/>
            <a:ext cx="9212580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25">
                <a:solidFill>
                  <a:srgbClr val="CFE8E1"/>
                </a:solidFill>
                <a:latin typeface="Calibri (MS)"/>
                <a:ea typeface="Calibri (MS)"/>
                <a:cs typeface="Calibri (MS)"/>
                <a:sym typeface="Calibri (MS)"/>
              </a:rPr>
              <a:t>Paper records and manual phone calls don’t scale for busy doctors.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1384280" y="1577340"/>
            <a:ext cx="5966460" cy="7063740"/>
            <a:chOff x="0" y="0"/>
            <a:chExt cx="7955280" cy="94183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55280" cy="9418320"/>
            </a:xfrm>
            <a:custGeom>
              <a:avLst/>
              <a:gdLst/>
              <a:ahLst/>
              <a:cxnLst/>
              <a:rect l="l" t="t" r="r" b="b"/>
              <a:pathLst>
                <a:path w="7955280" h="9418320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7699248" y="0"/>
                  </a:lnTo>
                  <a:cubicBezTo>
                    <a:pt x="7840599" y="0"/>
                    <a:pt x="7955280" y="114554"/>
                    <a:pt x="7955280" y="256032"/>
                  </a:cubicBezTo>
                  <a:lnTo>
                    <a:pt x="7955280" y="9162288"/>
                  </a:lnTo>
                  <a:cubicBezTo>
                    <a:pt x="7955280" y="9303639"/>
                    <a:pt x="7840726" y="9418320"/>
                    <a:pt x="7699248" y="9418320"/>
                  </a:cubicBezTo>
                  <a:lnTo>
                    <a:pt x="256032" y="9418320"/>
                  </a:lnTo>
                  <a:cubicBezTo>
                    <a:pt x="114554" y="9418320"/>
                    <a:pt x="0" y="9303766"/>
                    <a:pt x="0" y="9162288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64340" y="2057400"/>
            <a:ext cx="754380" cy="754380"/>
            <a:chOff x="0" y="0"/>
            <a:chExt cx="1005840" cy="1005840"/>
          </a:xfrm>
        </p:grpSpPr>
        <p:sp>
          <p:nvSpPr>
            <p:cNvPr id="23" name="Freeform 23" descr="/home/claude/assets/icons/quote.png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64340" y="3017520"/>
            <a:ext cx="5006340" cy="3154680"/>
            <a:chOff x="0" y="0"/>
            <a:chExt cx="6675120" cy="42062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675120" cy="4206240"/>
            </a:xfrm>
            <a:custGeom>
              <a:avLst/>
              <a:gdLst/>
              <a:ahLst/>
              <a:cxnLst/>
              <a:rect l="l" t="t" r="r" b="b"/>
              <a:pathLst>
                <a:path w="6675120" h="4206240">
                  <a:moveTo>
                    <a:pt x="0" y="0"/>
                  </a:moveTo>
                  <a:lnTo>
                    <a:pt x="6675120" y="0"/>
                  </a:lnTo>
                  <a:lnTo>
                    <a:pt x="6675120" y="4206240"/>
                  </a:lnTo>
                  <a:lnTo>
                    <a:pt x="0" y="4206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848" r="-3084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675120" cy="42443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50"/>
                </a:lnSpc>
              </a:pPr>
              <a:r>
                <a:rPr lang="en-US" sz="2850" b="1" i="1">
                  <a:solidFill>
                    <a:srgbClr val="FFFFFF"/>
                  </a:solidFill>
                  <a:latin typeface="Cambria Bold Italics"/>
                  <a:ea typeface="Cambria Bold Italics"/>
                  <a:cs typeface="Cambria Bold Italics"/>
                  <a:sym typeface="Cambria Bold Italics"/>
                </a:rPr>
                <a:t>On their own, patients quietly fall behind — and nobody notices until the next appointment.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 rot="165120">
            <a:off x="11844833" y="6505575"/>
            <a:ext cx="793394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grpSp>
        <p:nvGrpSpPr>
          <p:cNvPr id="28" name="Group 28"/>
          <p:cNvGrpSpPr/>
          <p:nvPr/>
        </p:nvGrpSpPr>
        <p:grpSpPr>
          <a:xfrm>
            <a:off x="11864340" y="6789420"/>
            <a:ext cx="5006340" cy="1508760"/>
            <a:chOff x="0" y="0"/>
            <a:chExt cx="6675120" cy="20116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675120" cy="2011680"/>
            </a:xfrm>
            <a:custGeom>
              <a:avLst/>
              <a:gdLst/>
              <a:ahLst/>
              <a:cxnLst/>
              <a:rect l="l" t="t" r="r" b="b"/>
              <a:pathLst>
                <a:path w="6675120" h="2011680">
                  <a:moveTo>
                    <a:pt x="0" y="0"/>
                  </a:moveTo>
                  <a:lnTo>
                    <a:pt x="6675120" y="0"/>
                  </a:lnTo>
                  <a:lnTo>
                    <a:pt x="66751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54" b="-1465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6675120" cy="20783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reading missed is a risk signal doctors never see.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269480" cy="10287000"/>
            <a:chOff x="0" y="0"/>
            <a:chExt cx="969264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92640" cy="13716000"/>
            </a:xfrm>
            <a:custGeom>
              <a:avLst/>
              <a:gdLst/>
              <a:ahLst/>
              <a:cxnLst/>
              <a:rect l="l" t="t" r="r" b="b"/>
              <a:pathLst>
                <a:path w="9692640" h="13716000">
                  <a:moveTo>
                    <a:pt x="0" y="1615440"/>
                  </a:moveTo>
                  <a:cubicBezTo>
                    <a:pt x="0" y="723265"/>
                    <a:pt x="723265" y="0"/>
                    <a:pt x="1615440" y="0"/>
                  </a:cubicBezTo>
                  <a:lnTo>
                    <a:pt x="8077200" y="0"/>
                  </a:lnTo>
                  <a:cubicBezTo>
                    <a:pt x="8969375" y="0"/>
                    <a:pt x="9692640" y="723265"/>
                    <a:pt x="9692640" y="1615440"/>
                  </a:cubicBezTo>
                  <a:lnTo>
                    <a:pt x="9692640" y="12100560"/>
                  </a:lnTo>
                  <a:cubicBezTo>
                    <a:pt x="9692640" y="12992735"/>
                    <a:pt x="8969375" y="13716000"/>
                    <a:pt x="8077200" y="13716000"/>
                  </a:cubicBezTo>
                  <a:lnTo>
                    <a:pt x="1615440" y="13716000"/>
                  </a:lnTo>
                  <a:cubicBezTo>
                    <a:pt x="723265" y="13716000"/>
                    <a:pt x="0" y="12992735"/>
                    <a:pt x="0" y="1210056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2468880" y="7680960"/>
            <a:ext cx="5760720" cy="5760720"/>
            <a:chOff x="0" y="0"/>
            <a:chExt cx="7680960" cy="7680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80960" cy="7680960"/>
            </a:xfrm>
            <a:custGeom>
              <a:avLst/>
              <a:gdLst/>
              <a:ahLst/>
              <a:cxnLst/>
              <a:rect l="l" t="t" r="r" b="b"/>
              <a:pathLst>
                <a:path w="7680960" h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0B2E2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77340" y="2125980"/>
            <a:ext cx="4114800" cy="3497580"/>
            <a:chOff x="0" y="0"/>
            <a:chExt cx="5486400" cy="4663440"/>
          </a:xfrm>
        </p:grpSpPr>
        <p:sp>
          <p:nvSpPr>
            <p:cNvPr id="7" name="Freeform 7" descr="/home/claude/assets/phone_mockup2.png"/>
            <p:cNvSpPr/>
            <p:nvPr/>
          </p:nvSpPr>
          <p:spPr>
            <a:xfrm>
              <a:off x="0" y="0"/>
              <a:ext cx="5486400" cy="4663440"/>
            </a:xfrm>
            <a:custGeom>
              <a:avLst/>
              <a:gdLst/>
              <a:ahLst/>
              <a:cxnLst/>
              <a:rect l="l" t="t" r="r" b="b"/>
              <a:pathLst>
                <a:path w="5486400" h="4663440">
                  <a:moveTo>
                    <a:pt x="0" y="0"/>
                  </a:moveTo>
                  <a:lnTo>
                    <a:pt x="5486400" y="0"/>
                  </a:lnTo>
                  <a:lnTo>
                    <a:pt x="5486400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380" y="6172200"/>
            <a:ext cx="5760720" cy="2057400"/>
            <a:chOff x="0" y="0"/>
            <a:chExt cx="7680960" cy="2743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80960" cy="2743200"/>
            </a:xfrm>
            <a:custGeom>
              <a:avLst/>
              <a:gdLst/>
              <a:ahLst/>
              <a:cxnLst/>
              <a:rect l="l" t="t" r="r" b="b"/>
              <a:pathLst>
                <a:path w="7680960" h="2743200">
                  <a:moveTo>
                    <a:pt x="0" y="0"/>
                  </a:moveTo>
                  <a:lnTo>
                    <a:pt x="7680960" y="0"/>
                  </a:lnTo>
                  <a:lnTo>
                    <a:pt x="768096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58" b="-455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7680960" cy="2762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49"/>
                </a:lnSpc>
              </a:pPr>
              <a:r>
                <a:rPr lang="en-US" sz="33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Built for the weeks between appointments.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023860" y="822960"/>
            <a:ext cx="8229600" cy="480060"/>
            <a:chOff x="0" y="0"/>
            <a:chExt cx="10972800" cy="640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CARETRACK IS FOR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96428" y="1234440"/>
            <a:ext cx="9464040" cy="1783080"/>
            <a:chOff x="0" y="0"/>
            <a:chExt cx="12618720" cy="23774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618720" cy="2377440"/>
            </a:xfrm>
            <a:custGeom>
              <a:avLst/>
              <a:gdLst/>
              <a:ahLst/>
              <a:cxnLst/>
              <a:rect l="l" t="t" r="r" b="b"/>
              <a:pathLst>
                <a:path w="12618720" h="2377440">
                  <a:moveTo>
                    <a:pt x="0" y="0"/>
                  </a:moveTo>
                  <a:lnTo>
                    <a:pt x="12618720" y="0"/>
                  </a:lnTo>
                  <a:lnTo>
                    <a:pt x="126187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3420" b="-5342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12618720" cy="2367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00"/>
                </a:lnSpc>
              </a:pPr>
              <a:r>
                <a:rPr lang="en-US" sz="420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Doctor and patient,</a:t>
              </a:r>
            </a:p>
            <a:p>
              <a:pPr algn="l">
                <a:lnSpc>
                  <a:spcPts val="4800"/>
                </a:lnSpc>
              </a:pPr>
              <a:r>
                <a:rPr lang="en-US" sz="420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one loop.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23860" y="2948940"/>
            <a:ext cx="9189720" cy="1508760"/>
            <a:chOff x="0" y="0"/>
            <a:chExt cx="12252960" cy="20116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252960" cy="2011680"/>
            </a:xfrm>
            <a:custGeom>
              <a:avLst/>
              <a:gdLst/>
              <a:ahLst/>
              <a:cxnLst/>
              <a:rect l="l" t="t" r="r" b="b"/>
              <a:pathLst>
                <a:path w="12252960" h="2011680">
                  <a:moveTo>
                    <a:pt x="0" y="0"/>
                  </a:moveTo>
                  <a:lnTo>
                    <a:pt x="12252960" y="0"/>
                  </a:lnTo>
                  <a:lnTo>
                    <a:pt x="12252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8681" b="-6868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2252960" cy="20878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50"/>
                </a:lnSpc>
              </a:pPr>
              <a:r>
                <a:rPr lang="en-US" sz="2025">
                  <a:solidFill>
                    <a:srgbClr val="1630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Doctors and patients both need a way to stay connected once the visit ends. CareTrack keeps that connection alive — quietly tracking, reminding, and flagging what actually needs attention.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023860" y="4869180"/>
            <a:ext cx="754380" cy="754380"/>
            <a:chOff x="0" y="0"/>
            <a:chExt cx="1005840" cy="10058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202168" y="5047488"/>
            <a:ext cx="397764" cy="397764"/>
            <a:chOff x="0" y="0"/>
            <a:chExt cx="530352" cy="530352"/>
          </a:xfrm>
        </p:grpSpPr>
        <p:sp>
          <p:nvSpPr>
            <p:cNvPr id="23" name="Freeform 23" descr="/home/claude/assets/icons/doctor.png"/>
            <p:cNvSpPr/>
            <p:nvPr/>
          </p:nvSpPr>
          <p:spPr>
            <a:xfrm>
              <a:off x="0" y="0"/>
              <a:ext cx="530352" cy="530352"/>
            </a:xfrm>
            <a:custGeom>
              <a:avLst/>
              <a:gdLst/>
              <a:ahLst/>
              <a:cxnLst/>
              <a:rect l="l" t="t" r="r" b="b"/>
              <a:pathLst>
                <a:path w="530352" h="530352">
                  <a:moveTo>
                    <a:pt x="0" y="0"/>
                  </a:moveTo>
                  <a:lnTo>
                    <a:pt x="530352" y="0"/>
                  </a:lnTo>
                  <a:lnTo>
                    <a:pt x="530352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52560" y="4869180"/>
            <a:ext cx="7680960" cy="754380"/>
            <a:chOff x="0" y="0"/>
            <a:chExt cx="10241280" cy="1005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Doctor + patient, one loop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23860" y="5939028"/>
            <a:ext cx="754380" cy="754380"/>
            <a:chOff x="0" y="0"/>
            <a:chExt cx="1005840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02168" y="6117336"/>
            <a:ext cx="397764" cy="397764"/>
            <a:chOff x="0" y="0"/>
            <a:chExt cx="530352" cy="530352"/>
          </a:xfrm>
        </p:grpSpPr>
        <p:sp>
          <p:nvSpPr>
            <p:cNvPr id="30" name="Freeform 30" descr="/home/claude/assets/icons/chartline.png"/>
            <p:cNvSpPr/>
            <p:nvPr/>
          </p:nvSpPr>
          <p:spPr>
            <a:xfrm>
              <a:off x="0" y="0"/>
              <a:ext cx="530352" cy="530352"/>
            </a:xfrm>
            <a:custGeom>
              <a:avLst/>
              <a:gdLst/>
              <a:ahLst/>
              <a:cxnLst/>
              <a:rect l="l" t="t" r="r" b="b"/>
              <a:pathLst>
                <a:path w="530352" h="530352">
                  <a:moveTo>
                    <a:pt x="0" y="0"/>
                  </a:moveTo>
                  <a:lnTo>
                    <a:pt x="530352" y="0"/>
                  </a:lnTo>
                  <a:lnTo>
                    <a:pt x="530352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52560" y="5939028"/>
            <a:ext cx="7680960" cy="754380"/>
            <a:chOff x="0" y="0"/>
            <a:chExt cx="10241280" cy="1005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 trend history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23860" y="7008876"/>
            <a:ext cx="754380" cy="754380"/>
            <a:chOff x="0" y="0"/>
            <a:chExt cx="1005840" cy="10058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02168" y="7187184"/>
            <a:ext cx="397764" cy="397764"/>
            <a:chOff x="0" y="0"/>
            <a:chExt cx="530352" cy="530352"/>
          </a:xfrm>
        </p:grpSpPr>
        <p:sp>
          <p:nvSpPr>
            <p:cNvPr id="37" name="Freeform 37" descr="/home/claude/assets/icons/signal.png"/>
            <p:cNvSpPr/>
            <p:nvPr/>
          </p:nvSpPr>
          <p:spPr>
            <a:xfrm>
              <a:off x="0" y="0"/>
              <a:ext cx="530352" cy="530352"/>
            </a:xfrm>
            <a:custGeom>
              <a:avLst/>
              <a:gdLst/>
              <a:ahLst/>
              <a:cxnLst/>
              <a:rect l="l" t="t" r="r" b="b"/>
              <a:pathLst>
                <a:path w="530352" h="530352">
                  <a:moveTo>
                    <a:pt x="0" y="0"/>
                  </a:moveTo>
                  <a:lnTo>
                    <a:pt x="530352" y="0"/>
                  </a:lnTo>
                  <a:lnTo>
                    <a:pt x="530352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52560" y="7008876"/>
            <a:ext cx="7680960" cy="754380"/>
            <a:chOff x="0" y="0"/>
            <a:chExt cx="10241280" cy="10058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Automatic risk flags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23860" y="8078724"/>
            <a:ext cx="754380" cy="754380"/>
            <a:chOff x="0" y="0"/>
            <a:chExt cx="1005840" cy="10058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202168" y="8257032"/>
            <a:ext cx="397764" cy="397764"/>
            <a:chOff x="0" y="0"/>
            <a:chExt cx="530352" cy="530352"/>
          </a:xfrm>
        </p:grpSpPr>
        <p:sp>
          <p:nvSpPr>
            <p:cNvPr id="44" name="Freeform 44" descr="/home/claude/assets/icons/mobile.png"/>
            <p:cNvSpPr/>
            <p:nvPr/>
          </p:nvSpPr>
          <p:spPr>
            <a:xfrm>
              <a:off x="0" y="0"/>
              <a:ext cx="530352" cy="530352"/>
            </a:xfrm>
            <a:custGeom>
              <a:avLst/>
              <a:gdLst/>
              <a:ahLst/>
              <a:cxnLst/>
              <a:rect l="l" t="t" r="r" b="b"/>
              <a:pathLst>
                <a:path w="530352" h="530352">
                  <a:moveTo>
                    <a:pt x="0" y="0"/>
                  </a:moveTo>
                  <a:lnTo>
                    <a:pt x="530352" y="0"/>
                  </a:lnTo>
                  <a:lnTo>
                    <a:pt x="530352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052560" y="8078724"/>
            <a:ext cx="7680960" cy="754380"/>
            <a:chOff x="0" y="0"/>
            <a:chExt cx="10241280" cy="1005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241280" cy="1005840"/>
            </a:xfrm>
            <a:custGeom>
              <a:avLst/>
              <a:gdLst/>
              <a:ahLst/>
              <a:cxnLst/>
              <a:rect l="l" t="t" r="r" b="b"/>
              <a:pathLst>
                <a:path w="10241280" h="1005840">
                  <a:moveTo>
                    <a:pt x="0" y="0"/>
                  </a:moveTo>
                  <a:lnTo>
                    <a:pt x="10241280" y="0"/>
                  </a:lnTo>
                  <a:lnTo>
                    <a:pt x="102412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8393" b="-14839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1024128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0"/>
                </a:lnSpc>
              </a:pPr>
              <a:r>
                <a:rPr lang="en-US" sz="2175" b="1">
                  <a:solidFill>
                    <a:srgbClr val="1630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app required to log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43200" y="7680960"/>
            <a:ext cx="6172200" cy="6172200"/>
            <a:chOff x="0" y="0"/>
            <a:chExt cx="8229600" cy="822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29600" cy="8229600"/>
            </a:xfrm>
            <a:custGeom>
              <a:avLst/>
              <a:gdLst/>
              <a:ahLst/>
              <a:cxnLst/>
              <a:rect l="l" t="t" r="r" b="b"/>
              <a:pathLst>
                <a:path w="8229600" h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" y="1165860"/>
            <a:ext cx="13030200" cy="1028700"/>
            <a:chOff x="0" y="0"/>
            <a:chExt cx="1737360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73600" cy="1371600"/>
            </a:xfrm>
            <a:custGeom>
              <a:avLst/>
              <a:gdLst/>
              <a:ahLst/>
              <a:cxnLst/>
              <a:rect l="l" t="t" r="r" b="b"/>
              <a:pathLst>
                <a:path w="17373600" h="1371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73736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One live view of who needs attention.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0120" y="2194560"/>
            <a:ext cx="14401800" cy="685800"/>
            <a:chOff x="0" y="0"/>
            <a:chExt cx="19202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202400" cy="914400"/>
            </a:xfrm>
            <a:custGeom>
              <a:avLst/>
              <a:gdLst/>
              <a:ahLst/>
              <a:cxnLst/>
              <a:rect l="l" t="t" r="r" b="b"/>
              <a:pathLst>
                <a:path w="19202400" h="914400">
                  <a:moveTo>
                    <a:pt x="0" y="0"/>
                  </a:moveTo>
                  <a:lnTo>
                    <a:pt x="19202400" y="0"/>
                  </a:lnTo>
                  <a:lnTo>
                    <a:pt x="19202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185" b="-35918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9202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CareTrack keeps chronic patients on track and gives doctors a live view of who needs attention.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0120" y="3497580"/>
            <a:ext cx="3977640" cy="5897880"/>
            <a:chOff x="0" y="0"/>
            <a:chExt cx="5303520" cy="7863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303520" cy="7863840"/>
            </a:xfrm>
            <a:custGeom>
              <a:avLst/>
              <a:gdLst/>
              <a:ahLst/>
              <a:cxnLst/>
              <a:rect l="l" t="t" r="r" b="b"/>
              <a:pathLst>
                <a:path w="5303520" h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7644384"/>
                  </a:lnTo>
                  <a:cubicBezTo>
                    <a:pt x="5303520" y="7765542"/>
                    <a:pt x="5205222" y="7863840"/>
                    <a:pt x="5084064" y="7863840"/>
                  </a:cubicBezTo>
                  <a:lnTo>
                    <a:pt x="219456" y="7863840"/>
                  </a:lnTo>
                  <a:cubicBezTo>
                    <a:pt x="98298" y="7863840"/>
                    <a:pt x="0" y="7765542"/>
                    <a:pt x="0" y="76443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4168" y="3977640"/>
            <a:ext cx="1028700" cy="1028700"/>
            <a:chOff x="0" y="0"/>
            <a:chExt cx="1371600" cy="137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01343" y="4234815"/>
            <a:ext cx="514350" cy="514350"/>
            <a:chOff x="0" y="0"/>
            <a:chExt cx="685800" cy="685800"/>
          </a:xfrm>
        </p:grpSpPr>
        <p:sp>
          <p:nvSpPr>
            <p:cNvPr id="18" name="Freeform 18" descr="/home/claude/assets/icons/doctor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44168" y="5349240"/>
            <a:ext cx="3223260" cy="1028700"/>
            <a:chOff x="0" y="0"/>
            <a:chExt cx="4297680" cy="1371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297680" cy="1371600"/>
            </a:xfrm>
            <a:custGeom>
              <a:avLst/>
              <a:gdLst/>
              <a:ahLst/>
              <a:cxnLst/>
              <a:rect l="l" t="t" r="r" b="b"/>
              <a:pathLst>
                <a:path w="4297680" h="137160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3" b="-110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4297680" cy="136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325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Doctor Dashboard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rot="222900">
            <a:off x="1324499" y="6505575"/>
            <a:ext cx="587978" cy="0"/>
          </a:xfrm>
          <a:prstGeom prst="line">
            <a:avLst/>
          </a:prstGeom>
          <a:ln w="19050" cap="rnd">
            <a:solidFill>
              <a:srgbClr val="E87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Box 23"/>
          <p:cNvSpPr txBox="1"/>
          <p:nvPr/>
        </p:nvSpPr>
        <p:spPr>
          <a:xfrm>
            <a:off x="1435608" y="6846570"/>
            <a:ext cx="3040380" cy="216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800">
                <a:solidFill>
                  <a:srgbClr val="5B7A74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list with at-a-glance status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280660" y="3497580"/>
            <a:ext cx="3977640" cy="5897880"/>
            <a:chOff x="0" y="0"/>
            <a:chExt cx="5303520" cy="78638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03520" cy="7863840"/>
            </a:xfrm>
            <a:custGeom>
              <a:avLst/>
              <a:gdLst/>
              <a:ahLst/>
              <a:cxnLst/>
              <a:rect l="l" t="t" r="r" b="b"/>
              <a:pathLst>
                <a:path w="5303520" h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7644384"/>
                  </a:lnTo>
                  <a:cubicBezTo>
                    <a:pt x="5303520" y="7765542"/>
                    <a:pt x="5205222" y="7863840"/>
                    <a:pt x="5084064" y="7863840"/>
                  </a:cubicBezTo>
                  <a:lnTo>
                    <a:pt x="219456" y="7863840"/>
                  </a:lnTo>
                  <a:cubicBezTo>
                    <a:pt x="98298" y="7863840"/>
                    <a:pt x="0" y="7765542"/>
                    <a:pt x="0" y="76443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64708" y="3977640"/>
            <a:ext cx="1028700" cy="1028700"/>
            <a:chOff x="0" y="0"/>
            <a:chExt cx="1371600" cy="13716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21883" y="4234815"/>
            <a:ext cx="514350" cy="514350"/>
            <a:chOff x="0" y="0"/>
            <a:chExt cx="685800" cy="685800"/>
          </a:xfrm>
        </p:grpSpPr>
        <p:sp>
          <p:nvSpPr>
            <p:cNvPr id="29" name="Freeform 29" descr="/home/claude/assets/icons/bell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4708" y="5349240"/>
            <a:ext cx="3223260" cy="1028700"/>
            <a:chOff x="0" y="0"/>
            <a:chExt cx="4297680" cy="1371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97680" cy="1371600"/>
            </a:xfrm>
            <a:custGeom>
              <a:avLst/>
              <a:gdLst/>
              <a:ahLst/>
              <a:cxnLst/>
              <a:rect l="l" t="t" r="r" b="b"/>
              <a:pathLst>
                <a:path w="4297680" h="137160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3" b="-110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4297680" cy="136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325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Automated Reminders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222900">
            <a:off x="5645039" y="6505575"/>
            <a:ext cx="587978" cy="0"/>
          </a:xfrm>
          <a:prstGeom prst="line">
            <a:avLst/>
          </a:prstGeom>
          <a:ln w="19050" cap="rnd">
            <a:solidFill>
              <a:srgbClr val="0F3D3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Box 34"/>
          <p:cNvSpPr txBox="1"/>
          <p:nvPr/>
        </p:nvSpPr>
        <p:spPr>
          <a:xfrm>
            <a:off x="5756148" y="6846570"/>
            <a:ext cx="3040380" cy="90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dirty="0">
                <a:solidFill>
                  <a:srgbClr val="5B7A74"/>
                </a:solidFill>
                <a:latin typeface="Calibri (MS)"/>
                <a:ea typeface="Calibri (MS)"/>
                <a:cs typeface="Calibri (MS)"/>
                <a:sym typeface="Calibri (MS)"/>
              </a:rPr>
              <a:t>In-App automatic reminders for checkups, medication, readings </a:t>
            </a:r>
            <a:r>
              <a:rPr lang="en-US" dirty="0" err="1">
                <a:solidFill>
                  <a:srgbClr val="5B7A74"/>
                </a:solidFill>
                <a:latin typeface="Calibri (MS)"/>
                <a:ea typeface="Calibri (MS)"/>
                <a:cs typeface="Calibri (MS)"/>
                <a:sym typeface="Calibri (MS)"/>
              </a:rPr>
              <a:t>etc</a:t>
            </a:r>
            <a:endParaRPr lang="en-US" sz="1800" dirty="0">
              <a:solidFill>
                <a:srgbClr val="5B7A74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9601200" y="3497580"/>
            <a:ext cx="3977640" cy="5897880"/>
            <a:chOff x="0" y="0"/>
            <a:chExt cx="5303520" cy="7863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303520" cy="7863840"/>
            </a:xfrm>
            <a:custGeom>
              <a:avLst/>
              <a:gdLst/>
              <a:ahLst/>
              <a:cxnLst/>
              <a:rect l="l" t="t" r="r" b="b"/>
              <a:pathLst>
                <a:path w="5303520" h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7644384"/>
                  </a:lnTo>
                  <a:cubicBezTo>
                    <a:pt x="5303520" y="7765542"/>
                    <a:pt x="5205222" y="7863840"/>
                    <a:pt x="5084064" y="7863840"/>
                  </a:cubicBezTo>
                  <a:lnTo>
                    <a:pt x="219456" y="7863840"/>
                  </a:lnTo>
                  <a:cubicBezTo>
                    <a:pt x="98298" y="7863840"/>
                    <a:pt x="0" y="7765542"/>
                    <a:pt x="0" y="76443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85248" y="3977640"/>
            <a:ext cx="1028700" cy="1028700"/>
            <a:chOff x="0" y="0"/>
            <a:chExt cx="1371600" cy="1371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242423" y="4234815"/>
            <a:ext cx="514350" cy="514350"/>
            <a:chOff x="0" y="0"/>
            <a:chExt cx="685800" cy="685800"/>
          </a:xfrm>
        </p:grpSpPr>
        <p:sp>
          <p:nvSpPr>
            <p:cNvPr id="40" name="Freeform 40" descr="/home/claude/assets/icons/mobil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985248" y="5349240"/>
            <a:ext cx="3223260" cy="1028700"/>
            <a:chOff x="0" y="0"/>
            <a:chExt cx="4297680" cy="13716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97680" cy="1371600"/>
            </a:xfrm>
            <a:custGeom>
              <a:avLst/>
              <a:gdLst/>
              <a:ahLst/>
              <a:cxnLst/>
              <a:rect l="l" t="t" r="r" b="b"/>
              <a:pathLst>
                <a:path w="4297680" h="137160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3" b="-110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4297680" cy="136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325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Patient Self-Logging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rot="222900">
            <a:off x="9965579" y="6505575"/>
            <a:ext cx="587978" cy="0"/>
          </a:xfrm>
          <a:prstGeom prst="line">
            <a:avLst/>
          </a:prstGeom>
          <a:ln w="19050" cap="rnd">
            <a:solidFill>
              <a:srgbClr val="0F3D3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Box 45"/>
          <p:cNvSpPr txBox="1"/>
          <p:nvPr/>
        </p:nvSpPr>
        <p:spPr>
          <a:xfrm>
            <a:off x="10076688" y="6846570"/>
            <a:ext cx="3040380" cy="216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800">
                <a:solidFill>
                  <a:srgbClr val="5B7A74"/>
                </a:solidFill>
                <a:latin typeface="Calibri (MS)"/>
                <a:ea typeface="Calibri (MS)"/>
                <a:cs typeface="Calibri (MS)"/>
                <a:sym typeface="Calibri (MS)"/>
              </a:rPr>
              <a:t>Log readings anytime, no app install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3921740" y="3497580"/>
            <a:ext cx="3977640" cy="5897880"/>
            <a:chOff x="0" y="0"/>
            <a:chExt cx="5303520" cy="78638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303520" cy="7863840"/>
            </a:xfrm>
            <a:custGeom>
              <a:avLst/>
              <a:gdLst/>
              <a:ahLst/>
              <a:cxnLst/>
              <a:rect l="l" t="t" r="r" b="b"/>
              <a:pathLst>
                <a:path w="5303520" h="78638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084064" y="0"/>
                  </a:lnTo>
                  <a:cubicBezTo>
                    <a:pt x="5205222" y="0"/>
                    <a:pt x="5303520" y="98298"/>
                    <a:pt x="5303520" y="219456"/>
                  </a:cubicBezTo>
                  <a:lnTo>
                    <a:pt x="5303520" y="7644384"/>
                  </a:lnTo>
                  <a:cubicBezTo>
                    <a:pt x="5303520" y="7765542"/>
                    <a:pt x="5205222" y="7863840"/>
                    <a:pt x="5084064" y="7863840"/>
                  </a:cubicBezTo>
                  <a:lnTo>
                    <a:pt x="219456" y="7863840"/>
                  </a:lnTo>
                  <a:cubicBezTo>
                    <a:pt x="98298" y="7863840"/>
                    <a:pt x="0" y="7765542"/>
                    <a:pt x="0" y="76443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305788" y="3977640"/>
            <a:ext cx="1028700" cy="1028700"/>
            <a:chOff x="0" y="0"/>
            <a:chExt cx="1371600" cy="1371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4562963" y="4234815"/>
            <a:ext cx="514350" cy="514350"/>
            <a:chOff x="0" y="0"/>
            <a:chExt cx="685800" cy="685800"/>
          </a:xfrm>
        </p:grpSpPr>
        <p:sp>
          <p:nvSpPr>
            <p:cNvPr id="51" name="Freeform 51" descr="/home/claude/assets/icons/chartline.png"/>
            <p:cNvSpPr/>
            <p:nvPr/>
          </p:nvSpPr>
          <p:spPr>
            <a:xfrm>
              <a:off x="0" y="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4305788" y="5349240"/>
            <a:ext cx="3223260" cy="1028700"/>
            <a:chOff x="0" y="0"/>
            <a:chExt cx="4297680" cy="13716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97680" cy="1371600"/>
            </a:xfrm>
            <a:custGeom>
              <a:avLst/>
              <a:gdLst/>
              <a:ahLst/>
              <a:cxnLst/>
              <a:rect l="l" t="t" r="r" b="b"/>
              <a:pathLst>
                <a:path w="4297680" h="1371600">
                  <a:moveTo>
                    <a:pt x="0" y="0"/>
                  </a:moveTo>
                  <a:lnTo>
                    <a:pt x="4297680" y="0"/>
                  </a:lnTo>
                  <a:lnTo>
                    <a:pt x="429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53" b="-110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9525"/>
              <a:ext cx="4297680" cy="1362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325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Trend Tracking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 rot="222900">
            <a:off x="14286119" y="6505575"/>
            <a:ext cx="587978" cy="0"/>
          </a:xfrm>
          <a:prstGeom prst="line">
            <a:avLst/>
          </a:prstGeom>
          <a:ln w="19050" cap="rnd">
            <a:solidFill>
              <a:srgbClr val="E873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56" name="TextBox 56"/>
          <p:cNvSpPr txBox="1"/>
          <p:nvPr/>
        </p:nvSpPr>
        <p:spPr>
          <a:xfrm>
            <a:off x="14397228" y="6846570"/>
            <a:ext cx="3040380" cy="216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800">
                <a:solidFill>
                  <a:srgbClr val="5B7A74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history flags risk early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FE8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688" y="1165860"/>
            <a:ext cx="12344400" cy="1028700"/>
            <a:chOff x="0" y="0"/>
            <a:chExt cx="164592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459200" cy="1371600"/>
            </a:xfrm>
            <a:custGeom>
              <a:avLst/>
              <a:gdLst/>
              <a:ahLst/>
              <a:cxnLst/>
              <a:rect l="l" t="t" r="r" b="b"/>
              <a:pathLst>
                <a:path w="16459200" h="1371600">
                  <a:moveTo>
                    <a:pt x="0" y="0"/>
                  </a:moveTo>
                  <a:lnTo>
                    <a:pt x="16459200" y="0"/>
                  </a:lnTo>
                  <a:lnTo>
                    <a:pt x="16459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64592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loop that keeps building.</a:t>
              </a:r>
            </a:p>
          </p:txBody>
        </p:sp>
      </p:grpSp>
      <p:sp>
        <p:nvSpPr>
          <p:cNvPr id="8" name="AutoShape 8"/>
          <p:cNvSpPr/>
          <p:nvPr/>
        </p:nvSpPr>
        <p:spPr>
          <a:xfrm rot="10020">
            <a:off x="2573245" y="5511165"/>
            <a:ext cx="13095789" cy="0"/>
          </a:xfrm>
          <a:prstGeom prst="line">
            <a:avLst/>
          </a:prstGeom>
          <a:ln w="19050" cap="rnd">
            <a:solidFill>
              <a:srgbClr val="2A5B5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grpSp>
        <p:nvGrpSpPr>
          <p:cNvPr id="9" name="Group 9"/>
          <p:cNvGrpSpPr/>
          <p:nvPr/>
        </p:nvGrpSpPr>
        <p:grpSpPr>
          <a:xfrm>
            <a:off x="1853184" y="4781550"/>
            <a:ext cx="1478280" cy="1478280"/>
            <a:chOff x="0" y="0"/>
            <a:chExt cx="1971040" cy="19710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71040" cy="1971040"/>
            </a:xfrm>
            <a:custGeom>
              <a:avLst/>
              <a:gdLst/>
              <a:ahLst/>
              <a:cxnLst/>
              <a:rect l="l" t="t" r="r" b="b"/>
              <a:pathLst>
                <a:path w="1971040" h="1971040">
                  <a:moveTo>
                    <a:pt x="0" y="985520"/>
                  </a:moveTo>
                  <a:cubicBezTo>
                    <a:pt x="0" y="441198"/>
                    <a:pt x="441198" y="0"/>
                    <a:pt x="985520" y="0"/>
                  </a:cubicBezTo>
                  <a:cubicBezTo>
                    <a:pt x="1529842" y="0"/>
                    <a:pt x="1971040" y="441198"/>
                    <a:pt x="1971040" y="985520"/>
                  </a:cubicBezTo>
                  <a:cubicBezTo>
                    <a:pt x="1971040" y="1529842"/>
                    <a:pt x="1529842" y="1971040"/>
                    <a:pt x="985520" y="1971040"/>
                  </a:cubicBezTo>
                  <a:cubicBezTo>
                    <a:pt x="441198" y="1971040"/>
                    <a:pt x="0" y="1529842"/>
                    <a:pt x="0" y="985520"/>
                  </a:cubicBezTo>
                  <a:close/>
                </a:path>
              </a:pathLst>
            </a:custGeom>
            <a:solidFill>
              <a:srgbClr val="E8734A"/>
            </a:solidFill>
            <a:ln w="38100" cap="sq">
              <a:solidFill>
                <a:srgbClr val="E8734A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72234" y="4800600"/>
            <a:ext cx="1440180" cy="1440180"/>
            <a:chOff x="0" y="0"/>
            <a:chExt cx="1920240" cy="19202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92024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60120" y="6583680"/>
            <a:ext cx="3264408" cy="548640"/>
            <a:chOff x="0" y="0"/>
            <a:chExt cx="4352544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35" b="-6593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352544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9848" y="7200900"/>
            <a:ext cx="3044952" cy="1371600"/>
            <a:chOff x="0" y="0"/>
            <a:chExt cx="4059936" cy="1828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59936" cy="1828800"/>
            </a:xfrm>
            <a:custGeom>
              <a:avLst/>
              <a:gdLst/>
              <a:ahLst/>
              <a:cxnLst/>
              <a:rect l="l" t="t" r="r" b="b"/>
              <a:pathLst>
                <a:path w="4059936" h="1828800">
                  <a:moveTo>
                    <a:pt x="0" y="0"/>
                  </a:moveTo>
                  <a:lnTo>
                    <a:pt x="4059936" y="0"/>
                  </a:lnTo>
                  <a:lnTo>
                    <a:pt x="405993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94" r="-779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059936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 adds patient + schedule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17592" y="4781550"/>
            <a:ext cx="1478280" cy="1478280"/>
            <a:chOff x="0" y="0"/>
            <a:chExt cx="1971040" cy="19710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71040" cy="1971040"/>
            </a:xfrm>
            <a:custGeom>
              <a:avLst/>
              <a:gdLst/>
              <a:ahLst/>
              <a:cxnLst/>
              <a:rect l="l" t="t" r="r" b="b"/>
              <a:pathLst>
                <a:path w="1971040" h="1971040">
                  <a:moveTo>
                    <a:pt x="0" y="985520"/>
                  </a:moveTo>
                  <a:cubicBezTo>
                    <a:pt x="0" y="441198"/>
                    <a:pt x="441198" y="0"/>
                    <a:pt x="985520" y="0"/>
                  </a:cubicBezTo>
                  <a:cubicBezTo>
                    <a:pt x="1529842" y="0"/>
                    <a:pt x="1971040" y="441198"/>
                    <a:pt x="1971040" y="985520"/>
                  </a:cubicBezTo>
                  <a:cubicBezTo>
                    <a:pt x="1971040" y="1529842"/>
                    <a:pt x="1529842" y="1971040"/>
                    <a:pt x="985520" y="1971040"/>
                  </a:cubicBezTo>
                  <a:cubicBezTo>
                    <a:pt x="441198" y="1971040"/>
                    <a:pt x="0" y="1529842"/>
                    <a:pt x="0" y="985520"/>
                  </a:cubicBezTo>
                  <a:close/>
                </a:path>
              </a:pathLst>
            </a:custGeom>
            <a:solidFill>
              <a:srgbClr val="0B2E2B"/>
            </a:solidFill>
            <a:ln w="38100" cap="sq">
              <a:solidFill>
                <a:srgbClr val="CFE8E1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36642" y="4800600"/>
            <a:ext cx="1440180" cy="1440180"/>
            <a:chOff x="0" y="0"/>
            <a:chExt cx="1920240" cy="19202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92024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224528" y="6583680"/>
            <a:ext cx="3264408" cy="548640"/>
            <a:chOff x="0" y="0"/>
            <a:chExt cx="4352544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35" b="-6593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4352544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Remind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34256" y="7200900"/>
            <a:ext cx="3044952" cy="1371600"/>
            <a:chOff x="0" y="0"/>
            <a:chExt cx="4059936" cy="1828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059936" cy="1828800"/>
            </a:xfrm>
            <a:custGeom>
              <a:avLst/>
              <a:gdLst/>
              <a:ahLst/>
              <a:cxnLst/>
              <a:rect l="l" t="t" r="r" b="b"/>
              <a:pathLst>
                <a:path w="4059936" h="1828800">
                  <a:moveTo>
                    <a:pt x="0" y="0"/>
                  </a:moveTo>
                  <a:lnTo>
                    <a:pt x="4059936" y="0"/>
                  </a:lnTo>
                  <a:lnTo>
                    <a:pt x="405993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94" r="-779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059936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 reminders before due dates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82000" y="4781550"/>
            <a:ext cx="1478280" cy="1478280"/>
            <a:chOff x="0" y="0"/>
            <a:chExt cx="1971040" cy="19710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71040" cy="1971040"/>
            </a:xfrm>
            <a:custGeom>
              <a:avLst/>
              <a:gdLst/>
              <a:ahLst/>
              <a:cxnLst/>
              <a:rect l="l" t="t" r="r" b="b"/>
              <a:pathLst>
                <a:path w="1971040" h="1971040">
                  <a:moveTo>
                    <a:pt x="0" y="985520"/>
                  </a:moveTo>
                  <a:cubicBezTo>
                    <a:pt x="0" y="441198"/>
                    <a:pt x="441198" y="0"/>
                    <a:pt x="985520" y="0"/>
                  </a:cubicBezTo>
                  <a:cubicBezTo>
                    <a:pt x="1529842" y="0"/>
                    <a:pt x="1971040" y="441198"/>
                    <a:pt x="1971040" y="985520"/>
                  </a:cubicBezTo>
                  <a:cubicBezTo>
                    <a:pt x="1971040" y="1529842"/>
                    <a:pt x="1529842" y="1971040"/>
                    <a:pt x="985520" y="1971040"/>
                  </a:cubicBezTo>
                  <a:cubicBezTo>
                    <a:pt x="441198" y="1971040"/>
                    <a:pt x="0" y="1529842"/>
                    <a:pt x="0" y="985520"/>
                  </a:cubicBezTo>
                  <a:close/>
                </a:path>
              </a:pathLst>
            </a:custGeom>
            <a:solidFill>
              <a:srgbClr val="0B2E2B"/>
            </a:solidFill>
            <a:ln w="38100" cap="sq">
              <a:solidFill>
                <a:srgbClr val="CFE8E1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01050" y="4800600"/>
            <a:ext cx="1440180" cy="1440180"/>
            <a:chOff x="0" y="0"/>
            <a:chExt cx="1920240" cy="19202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92024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88936" y="6583680"/>
            <a:ext cx="3264408" cy="548640"/>
            <a:chOff x="0" y="0"/>
            <a:chExt cx="4352544" cy="73152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35" b="-6593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352544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98664" y="7200900"/>
            <a:ext cx="3044952" cy="1371600"/>
            <a:chOff x="0" y="0"/>
            <a:chExt cx="4059936" cy="1828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059936" cy="1828800"/>
            </a:xfrm>
            <a:custGeom>
              <a:avLst/>
              <a:gdLst/>
              <a:ahLst/>
              <a:cxnLst/>
              <a:rect l="l" t="t" r="r" b="b"/>
              <a:pathLst>
                <a:path w="4059936" h="1828800">
                  <a:moveTo>
                    <a:pt x="0" y="0"/>
                  </a:moveTo>
                  <a:lnTo>
                    <a:pt x="4059936" y="0"/>
                  </a:lnTo>
                  <a:lnTo>
                    <a:pt x="405993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94" r="-779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4059936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logs their own readings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646408" y="4781550"/>
            <a:ext cx="1478280" cy="1478280"/>
            <a:chOff x="0" y="0"/>
            <a:chExt cx="1971040" cy="19710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71040" cy="1971040"/>
            </a:xfrm>
            <a:custGeom>
              <a:avLst/>
              <a:gdLst/>
              <a:ahLst/>
              <a:cxnLst/>
              <a:rect l="l" t="t" r="r" b="b"/>
              <a:pathLst>
                <a:path w="1971040" h="1971040">
                  <a:moveTo>
                    <a:pt x="0" y="985520"/>
                  </a:moveTo>
                  <a:cubicBezTo>
                    <a:pt x="0" y="441198"/>
                    <a:pt x="441198" y="0"/>
                    <a:pt x="985520" y="0"/>
                  </a:cubicBezTo>
                  <a:cubicBezTo>
                    <a:pt x="1529842" y="0"/>
                    <a:pt x="1971040" y="441198"/>
                    <a:pt x="1971040" y="985520"/>
                  </a:cubicBezTo>
                  <a:cubicBezTo>
                    <a:pt x="1971040" y="1529842"/>
                    <a:pt x="1529842" y="1971040"/>
                    <a:pt x="985520" y="1971040"/>
                  </a:cubicBezTo>
                  <a:cubicBezTo>
                    <a:pt x="441198" y="1971040"/>
                    <a:pt x="0" y="1529842"/>
                    <a:pt x="0" y="985520"/>
                  </a:cubicBezTo>
                  <a:close/>
                </a:path>
              </a:pathLst>
            </a:custGeom>
            <a:solidFill>
              <a:srgbClr val="E8734A"/>
            </a:solidFill>
            <a:ln w="38100" cap="sq">
              <a:solidFill>
                <a:srgbClr val="E8734A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665458" y="4800600"/>
            <a:ext cx="1440180" cy="1440180"/>
            <a:chOff x="0" y="0"/>
            <a:chExt cx="1920240" cy="19202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192024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753344" y="6583680"/>
            <a:ext cx="3264408" cy="548640"/>
            <a:chOff x="0" y="0"/>
            <a:chExt cx="4352544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35" b="-6593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4352544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Flag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863072" y="7200900"/>
            <a:ext cx="3044952" cy="1371600"/>
            <a:chOff x="0" y="0"/>
            <a:chExt cx="4059936" cy="1828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59936" cy="1828800"/>
            </a:xfrm>
            <a:custGeom>
              <a:avLst/>
              <a:gdLst/>
              <a:ahLst/>
              <a:cxnLst/>
              <a:rect l="l" t="t" r="r" b="b"/>
              <a:pathLst>
                <a:path w="4059936" h="1828800">
                  <a:moveTo>
                    <a:pt x="0" y="0"/>
                  </a:moveTo>
                  <a:lnTo>
                    <a:pt x="4059936" y="0"/>
                  </a:lnTo>
                  <a:lnTo>
                    <a:pt x="405993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94" r="-779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4059936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flags risk or missed care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4910816" y="4781550"/>
            <a:ext cx="1478280" cy="1478280"/>
            <a:chOff x="0" y="0"/>
            <a:chExt cx="1971040" cy="19710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71040" cy="1971040"/>
            </a:xfrm>
            <a:custGeom>
              <a:avLst/>
              <a:gdLst/>
              <a:ahLst/>
              <a:cxnLst/>
              <a:rect l="l" t="t" r="r" b="b"/>
              <a:pathLst>
                <a:path w="1971040" h="1971040">
                  <a:moveTo>
                    <a:pt x="0" y="985520"/>
                  </a:moveTo>
                  <a:cubicBezTo>
                    <a:pt x="0" y="441198"/>
                    <a:pt x="441198" y="0"/>
                    <a:pt x="985520" y="0"/>
                  </a:cubicBezTo>
                  <a:cubicBezTo>
                    <a:pt x="1529842" y="0"/>
                    <a:pt x="1971040" y="441198"/>
                    <a:pt x="1971040" y="985520"/>
                  </a:cubicBezTo>
                  <a:cubicBezTo>
                    <a:pt x="1971040" y="1529842"/>
                    <a:pt x="1529842" y="1971040"/>
                    <a:pt x="985520" y="1971040"/>
                  </a:cubicBezTo>
                  <a:cubicBezTo>
                    <a:pt x="441198" y="1971040"/>
                    <a:pt x="0" y="1529842"/>
                    <a:pt x="0" y="985520"/>
                  </a:cubicBezTo>
                  <a:close/>
                </a:path>
              </a:pathLst>
            </a:custGeom>
            <a:solidFill>
              <a:srgbClr val="0B2E2B"/>
            </a:solidFill>
            <a:ln w="38100" cap="sq">
              <a:solidFill>
                <a:srgbClr val="CFE8E1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4929866" y="4800600"/>
            <a:ext cx="1440180" cy="1440180"/>
            <a:chOff x="0" y="0"/>
            <a:chExt cx="1920240" cy="19202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920240" cy="1920240"/>
            </a:xfrm>
            <a:custGeom>
              <a:avLst/>
              <a:gdLst/>
              <a:ahLst/>
              <a:cxnLst/>
              <a:rect l="l" t="t" r="r" b="b"/>
              <a:pathLst>
                <a:path w="1920240" h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1920240" cy="19202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80"/>
                </a:lnSpc>
              </a:pPr>
              <a:r>
                <a:rPr lang="en-US" sz="3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017752" y="6583680"/>
            <a:ext cx="3264408" cy="548640"/>
            <a:chOff x="0" y="0"/>
            <a:chExt cx="4352544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52544" cy="731520"/>
            </a:xfrm>
            <a:custGeom>
              <a:avLst/>
              <a:gdLst/>
              <a:ahLst/>
              <a:cxnLst/>
              <a:rect l="l" t="t" r="r" b="b"/>
              <a:pathLst>
                <a:path w="4352544" h="731520">
                  <a:moveTo>
                    <a:pt x="0" y="0"/>
                  </a:moveTo>
                  <a:lnTo>
                    <a:pt x="4352544" y="0"/>
                  </a:lnTo>
                  <a:lnTo>
                    <a:pt x="43525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935" b="-6593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4352544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Act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127480" y="7200900"/>
            <a:ext cx="3044952" cy="1371600"/>
            <a:chOff x="0" y="0"/>
            <a:chExt cx="4059936" cy="1828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059936" cy="1828800"/>
            </a:xfrm>
            <a:custGeom>
              <a:avLst/>
              <a:gdLst/>
              <a:ahLst/>
              <a:cxnLst/>
              <a:rect l="l" t="t" r="r" b="b"/>
              <a:pathLst>
                <a:path w="4059936" h="1828800">
                  <a:moveTo>
                    <a:pt x="0" y="0"/>
                  </a:moveTo>
                  <a:lnTo>
                    <a:pt x="4059936" y="0"/>
                  </a:lnTo>
                  <a:lnTo>
                    <a:pt x="405993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94" r="-779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4059936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0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Doctor follows up in time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60120" y="8435340"/>
            <a:ext cx="16322040" cy="1028700"/>
            <a:chOff x="0" y="0"/>
            <a:chExt cx="21762720" cy="1371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1762720" cy="1371600"/>
            </a:xfrm>
            <a:custGeom>
              <a:avLst/>
              <a:gdLst/>
              <a:ahLst/>
              <a:cxnLst/>
              <a:rect l="l" t="t" r="r" b="b"/>
              <a:pathLst>
                <a:path w="21762720" h="1371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579839" y="0"/>
                  </a:lnTo>
                  <a:cubicBezTo>
                    <a:pt x="21680804" y="0"/>
                    <a:pt x="21762720" y="81915"/>
                    <a:pt x="21762720" y="182880"/>
                  </a:cubicBezTo>
                  <a:lnTo>
                    <a:pt x="21762720" y="1188720"/>
                  </a:lnTo>
                  <a:cubicBezTo>
                    <a:pt x="21762720" y="1289685"/>
                    <a:pt x="21680804" y="1371600"/>
                    <a:pt x="21579839" y="1371600"/>
                  </a:cubicBezTo>
                  <a:lnTo>
                    <a:pt x="182880" y="1371600"/>
                  </a:lnTo>
                  <a:cubicBezTo>
                    <a:pt x="81915" y="1371600"/>
                    <a:pt x="0" y="1289685"/>
                    <a:pt x="0" y="1188720"/>
                  </a:cubicBezTo>
                  <a:close/>
                </a:path>
              </a:pathLst>
            </a:custGeom>
            <a:solidFill>
              <a:srgbClr val="0B2E2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0120" y="8435340"/>
            <a:ext cx="16322040" cy="1028700"/>
            <a:chOff x="0" y="0"/>
            <a:chExt cx="21762720" cy="13716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1762720" cy="1371600"/>
            </a:xfrm>
            <a:custGeom>
              <a:avLst/>
              <a:gdLst/>
              <a:ahLst/>
              <a:cxnLst/>
              <a:rect l="l" t="t" r="r" b="b"/>
              <a:pathLst>
                <a:path w="21762720" h="1371600">
                  <a:moveTo>
                    <a:pt x="0" y="0"/>
                  </a:moveTo>
                  <a:lnTo>
                    <a:pt x="21762720" y="0"/>
                  </a:lnTo>
                  <a:lnTo>
                    <a:pt x="21762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162" b="-25916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47625"/>
              <a:ext cx="2176272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>
                  <a:solidFill>
                    <a:srgbClr val="CFE8E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loop repeats — every reading and visit builds a longer, more useful patient history.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MAKES US DIFFERENT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688" y="1165860"/>
            <a:ext cx="13030200" cy="1028700"/>
            <a:chOff x="0" y="0"/>
            <a:chExt cx="173736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73600" cy="1371600"/>
            </a:xfrm>
            <a:custGeom>
              <a:avLst/>
              <a:gdLst/>
              <a:ahLst/>
              <a:cxnLst/>
              <a:rect l="l" t="t" r="r" b="b"/>
              <a:pathLst>
                <a:path w="17373600" h="1371600">
                  <a:moveTo>
                    <a:pt x="0" y="0"/>
                  </a:moveTo>
                  <a:lnTo>
                    <a:pt x="17373600" y="0"/>
                  </a:lnTo>
                  <a:lnTo>
                    <a:pt x="173736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6810" b="-19681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37360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Built for local clinics, not hospitals.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0120" y="1988820"/>
            <a:ext cx="14401800" cy="548640"/>
            <a:chOff x="0" y="0"/>
            <a:chExt cx="1920240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2400" cy="731520"/>
            </a:xfrm>
            <a:custGeom>
              <a:avLst/>
              <a:gdLst/>
              <a:ahLst/>
              <a:cxnLst/>
              <a:rect l="l" t="t" r="r" b="b"/>
              <a:pathLst>
                <a:path w="19202400" h="73152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9202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tools (hiCare, Medisafe, mySugr) are enterprise-grade and app-only.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60120" y="3017520"/>
            <a:ext cx="7818120" cy="685800"/>
            <a:chOff x="0" y="0"/>
            <a:chExt cx="10424160" cy="914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24161" cy="914400"/>
            </a:xfrm>
            <a:custGeom>
              <a:avLst/>
              <a:gdLst/>
              <a:ahLst/>
              <a:cxnLst/>
              <a:rect l="l" t="t" r="r" b="b"/>
              <a:pathLst>
                <a:path w="10424161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768096"/>
                  </a:lnTo>
                  <a:cubicBezTo>
                    <a:pt x="10424161" y="848868"/>
                    <a:pt x="10358628" y="914400"/>
                    <a:pt x="1027785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0120" y="3017520"/>
            <a:ext cx="7818120" cy="685800"/>
            <a:chOff x="0" y="0"/>
            <a:chExt cx="1042416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24160" cy="914400"/>
            </a:xfrm>
            <a:custGeom>
              <a:avLst/>
              <a:gdLst/>
              <a:ahLst/>
              <a:cxnLst/>
              <a:rect l="l" t="t" r="r" b="b"/>
              <a:pathLst>
                <a:path w="10424160" h="91440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129" b="-1721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4241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225">
                  <a:solidFill>
                    <a:srgbClr val="5B7A7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APPS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64040" y="3017520"/>
            <a:ext cx="7818120" cy="685800"/>
            <a:chOff x="0" y="0"/>
            <a:chExt cx="1042416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24161" cy="914400"/>
            </a:xfrm>
            <a:custGeom>
              <a:avLst/>
              <a:gdLst/>
              <a:ahLst/>
              <a:cxnLst/>
              <a:rect l="l" t="t" r="r" b="b"/>
              <a:pathLst>
                <a:path w="10424161" h="9144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768096"/>
                  </a:lnTo>
                  <a:cubicBezTo>
                    <a:pt x="10424161" y="848868"/>
                    <a:pt x="10358628" y="914400"/>
                    <a:pt x="10277856" y="914400"/>
                  </a:cubicBezTo>
                  <a:lnTo>
                    <a:pt x="146304" y="914400"/>
                  </a:lnTo>
                  <a:cubicBezTo>
                    <a:pt x="65532" y="914400"/>
                    <a:pt x="0" y="848868"/>
                    <a:pt x="0" y="768096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64040" y="3017520"/>
            <a:ext cx="7818120" cy="685800"/>
            <a:chOff x="0" y="0"/>
            <a:chExt cx="10424160" cy="914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24160" cy="914400"/>
            </a:xfrm>
            <a:custGeom>
              <a:avLst/>
              <a:gdLst/>
              <a:ahLst/>
              <a:cxnLst/>
              <a:rect l="l" t="t" r="r" b="b"/>
              <a:pathLst>
                <a:path w="10424160" h="914400">
                  <a:moveTo>
                    <a:pt x="0" y="0"/>
                  </a:moveTo>
                  <a:lnTo>
                    <a:pt x="10424160" y="0"/>
                  </a:lnTo>
                  <a:lnTo>
                    <a:pt x="104241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129" b="-1721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42416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2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CARETRACK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0120" y="3771900"/>
            <a:ext cx="7818120" cy="1193292"/>
            <a:chOff x="0" y="0"/>
            <a:chExt cx="10424160" cy="15910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3020" y="4107942"/>
            <a:ext cx="521208" cy="521208"/>
            <a:chOff x="0" y="0"/>
            <a:chExt cx="694944" cy="6949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C9C9C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40180" y="4245102"/>
            <a:ext cx="246888" cy="246888"/>
            <a:chOff x="0" y="0"/>
            <a:chExt cx="329184" cy="329184"/>
          </a:xfrm>
        </p:grpSpPr>
        <p:sp>
          <p:nvSpPr>
            <p:cNvPr id="26" name="Freeform 26" descr="/home/claude/assets/icons/xmark.png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057400" y="3771900"/>
            <a:ext cx="6446520" cy="1193292"/>
            <a:chOff x="0" y="0"/>
            <a:chExt cx="8595360" cy="15910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630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Requires app install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64040" y="3771900"/>
            <a:ext cx="7818120" cy="1193292"/>
            <a:chOff x="0" y="0"/>
            <a:chExt cx="10424160" cy="15910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06940" y="4107942"/>
            <a:ext cx="521208" cy="521208"/>
            <a:chOff x="0" y="0"/>
            <a:chExt cx="694944" cy="6949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30384" y="4231386"/>
            <a:ext cx="274320" cy="274320"/>
            <a:chOff x="0" y="0"/>
            <a:chExt cx="365760" cy="365760"/>
          </a:xfrm>
        </p:grpSpPr>
        <p:sp>
          <p:nvSpPr>
            <p:cNvPr id="35" name="Freeform 35" descr="/home/claude/assets/icons/check.png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561320" y="3771900"/>
            <a:ext cx="6446520" cy="1193292"/>
            <a:chOff x="0" y="0"/>
            <a:chExt cx="8595360" cy="159105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 dirty="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Browser-based — no install needed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60120" y="5212080"/>
            <a:ext cx="7818120" cy="1193292"/>
            <a:chOff x="0" y="0"/>
            <a:chExt cx="10424160" cy="159105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03020" y="5548122"/>
            <a:ext cx="521208" cy="521208"/>
            <a:chOff x="0" y="0"/>
            <a:chExt cx="694944" cy="6949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C9C9C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40180" y="5685282"/>
            <a:ext cx="246888" cy="246888"/>
            <a:chOff x="0" y="0"/>
            <a:chExt cx="329184" cy="329184"/>
          </a:xfrm>
        </p:grpSpPr>
        <p:sp>
          <p:nvSpPr>
            <p:cNvPr id="44" name="Freeform 44" descr="/home/claude/assets/icons/xmark.png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057400" y="5212080"/>
            <a:ext cx="6446520" cy="1193292"/>
            <a:chOff x="0" y="0"/>
            <a:chExt cx="8595360" cy="159105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PK" dirty="0"/>
                <a:t>Manual review of every patient file</a:t>
              </a:r>
              <a:endParaRPr lang="en-US" sz="1950" dirty="0">
                <a:solidFill>
                  <a:srgbClr val="16302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464040" y="5212080"/>
            <a:ext cx="7818120" cy="1193292"/>
            <a:chOff x="0" y="0"/>
            <a:chExt cx="10424160" cy="159105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806940" y="5548122"/>
            <a:ext cx="521208" cy="521208"/>
            <a:chOff x="0" y="0"/>
            <a:chExt cx="694944" cy="69494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930384" y="5671566"/>
            <a:ext cx="274320" cy="274320"/>
            <a:chOff x="0" y="0"/>
            <a:chExt cx="365760" cy="365760"/>
          </a:xfrm>
        </p:grpSpPr>
        <p:sp>
          <p:nvSpPr>
            <p:cNvPr id="53" name="Freeform 53" descr="/home/claude/assets/icons/check.png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61320" y="5212080"/>
            <a:ext cx="6446520" cy="1193292"/>
            <a:chOff x="0" y="0"/>
            <a:chExt cx="8595360" cy="159105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PK" b="1" dirty="0">
                  <a:solidFill>
                    <a:schemeClr val="bg1"/>
                  </a:solidFill>
                </a:rPr>
                <a:t>Dashboard auto-flags at-risk patients </a:t>
              </a:r>
              <a:endParaRPr lang="en-US" sz="1950" b="1" dirty="0">
                <a:solidFill>
                  <a:schemeClr val="bg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60120" y="6652260"/>
            <a:ext cx="7818120" cy="1193292"/>
            <a:chOff x="0" y="0"/>
            <a:chExt cx="10424160" cy="15910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03020" y="6988302"/>
            <a:ext cx="521208" cy="521208"/>
            <a:chOff x="0" y="0"/>
            <a:chExt cx="694944" cy="6949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C9C9C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440180" y="7125462"/>
            <a:ext cx="246888" cy="246888"/>
            <a:chOff x="0" y="0"/>
            <a:chExt cx="329184" cy="329184"/>
          </a:xfrm>
        </p:grpSpPr>
        <p:sp>
          <p:nvSpPr>
            <p:cNvPr id="62" name="Freeform 62" descr="/home/claude/assets/icons/xmark.png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057400" y="6652260"/>
            <a:ext cx="6446520" cy="1193292"/>
            <a:chOff x="0" y="0"/>
            <a:chExt cx="8595360" cy="1591056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PK" dirty="0"/>
                <a:t>One-off reminders, easy to forget</a:t>
              </a:r>
              <a:endParaRPr lang="en-US" sz="1950" dirty="0">
                <a:solidFill>
                  <a:srgbClr val="16302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464040" y="6652260"/>
            <a:ext cx="7818120" cy="1193292"/>
            <a:chOff x="0" y="0"/>
            <a:chExt cx="10424160" cy="159105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806940" y="6988302"/>
            <a:ext cx="521208" cy="521208"/>
            <a:chOff x="0" y="0"/>
            <a:chExt cx="694944" cy="69494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930384" y="7111746"/>
            <a:ext cx="274320" cy="274320"/>
            <a:chOff x="0" y="0"/>
            <a:chExt cx="365760" cy="365760"/>
          </a:xfrm>
        </p:grpSpPr>
        <p:sp>
          <p:nvSpPr>
            <p:cNvPr id="71" name="Freeform 71" descr="/home/claude/assets/icons/check.png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561320" y="6652260"/>
            <a:ext cx="6446520" cy="1193292"/>
            <a:chOff x="0" y="0"/>
            <a:chExt cx="8595360" cy="159105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PK" b="1" dirty="0">
                  <a:solidFill>
                    <a:schemeClr val="bg1"/>
                  </a:solidFill>
                </a:rPr>
                <a:t>Automated </a:t>
              </a:r>
              <a:r>
                <a:rPr lang="en-PK" b="1" dirty="0" err="1">
                  <a:solidFill>
                    <a:schemeClr val="bg1"/>
                  </a:solidFill>
                </a:rPr>
                <a:t>cron</a:t>
              </a:r>
              <a:r>
                <a:rPr lang="en-PK" b="1" dirty="0">
                  <a:solidFill>
                    <a:schemeClr val="bg1"/>
                  </a:solidFill>
                </a:rPr>
                <a:t> reminders — checkup, meds, tests, readings</a:t>
              </a:r>
              <a:endParaRPr lang="en-US" sz="1950" b="1" dirty="0">
                <a:solidFill>
                  <a:schemeClr val="bg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960120" y="8092440"/>
            <a:ext cx="7818120" cy="1193292"/>
            <a:chOff x="0" y="0"/>
            <a:chExt cx="10424160" cy="1591056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303020" y="8428482"/>
            <a:ext cx="521208" cy="521208"/>
            <a:chOff x="0" y="0"/>
            <a:chExt cx="694944" cy="69494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C9C9C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40180" y="8565642"/>
            <a:ext cx="246888" cy="246888"/>
            <a:chOff x="0" y="0"/>
            <a:chExt cx="329184" cy="329184"/>
          </a:xfrm>
        </p:grpSpPr>
        <p:sp>
          <p:nvSpPr>
            <p:cNvPr id="80" name="Freeform 80" descr="/home/claude/assets/icons/xmark.png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057400" y="8092440"/>
            <a:ext cx="6446520" cy="1193292"/>
            <a:chOff x="0" y="0"/>
            <a:chExt cx="8595360" cy="15910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6302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Enterprise / hospital pricing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464040" y="8092440"/>
            <a:ext cx="7818120" cy="1193292"/>
            <a:chOff x="0" y="0"/>
            <a:chExt cx="10424160" cy="159105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0424161" cy="1591056"/>
            </a:xfrm>
            <a:custGeom>
              <a:avLst/>
              <a:gdLst/>
              <a:ahLst/>
              <a:cxnLst/>
              <a:rect l="l" t="t" r="r" b="b"/>
              <a:pathLst>
                <a:path w="10424161" h="1591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277856" y="0"/>
                  </a:lnTo>
                  <a:cubicBezTo>
                    <a:pt x="10358628" y="0"/>
                    <a:pt x="10424161" y="65532"/>
                    <a:pt x="10424161" y="146304"/>
                  </a:cubicBezTo>
                  <a:lnTo>
                    <a:pt x="10424161" y="1444752"/>
                  </a:lnTo>
                  <a:cubicBezTo>
                    <a:pt x="10424161" y="1525524"/>
                    <a:pt x="10358628" y="1591056"/>
                    <a:pt x="10277856" y="1591056"/>
                  </a:cubicBezTo>
                  <a:lnTo>
                    <a:pt x="146304" y="1591056"/>
                  </a:lnTo>
                  <a:cubicBezTo>
                    <a:pt x="65532" y="1591056"/>
                    <a:pt x="0" y="1525524"/>
                    <a:pt x="0" y="1444752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806940" y="8428482"/>
            <a:ext cx="521208" cy="521208"/>
            <a:chOff x="0" y="0"/>
            <a:chExt cx="694944" cy="69494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694944" cy="694944"/>
            </a:xfrm>
            <a:custGeom>
              <a:avLst/>
              <a:gdLst/>
              <a:ahLst/>
              <a:cxnLst/>
              <a:rect l="l" t="t" r="r" b="b"/>
              <a:pathLst>
                <a:path w="694944" h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9930384" y="8551926"/>
            <a:ext cx="274320" cy="274320"/>
            <a:chOff x="0" y="0"/>
            <a:chExt cx="365760" cy="365760"/>
          </a:xfrm>
        </p:grpSpPr>
        <p:sp>
          <p:nvSpPr>
            <p:cNvPr id="89" name="Freeform 89" descr="/home/claude/assets/icons/check.png"/>
            <p:cNvSpPr/>
            <p:nvPr/>
          </p:nvSpPr>
          <p:spPr>
            <a:xfrm>
              <a:off x="0" y="0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60" h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0561320" y="8092440"/>
            <a:ext cx="6446520" cy="1193292"/>
            <a:chOff x="0" y="0"/>
            <a:chExt cx="8595360" cy="159105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595360" cy="1591056"/>
            </a:xfrm>
            <a:custGeom>
              <a:avLst/>
              <a:gdLst/>
              <a:ahLst/>
              <a:cxnLst/>
              <a:rect l="l" t="t" r="r" b="b"/>
              <a:pathLst>
                <a:path w="8595360" h="1591056">
                  <a:moveTo>
                    <a:pt x="0" y="0"/>
                  </a:moveTo>
                  <a:lnTo>
                    <a:pt x="8595360" y="0"/>
                  </a:lnTo>
                  <a:lnTo>
                    <a:pt x="8595360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264" b="-5526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8595360" cy="1638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for small, local clinics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CFE8E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2688" y="1165860"/>
            <a:ext cx="13716000" cy="1028700"/>
            <a:chOff x="0" y="0"/>
            <a:chExt cx="18288000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288000" cy="1371600"/>
            </a:xfrm>
            <a:custGeom>
              <a:avLst/>
              <a:gdLst/>
              <a:ahLst/>
              <a:cxnLst/>
              <a:rect l="l" t="t" r="r" b="b"/>
              <a:pathLst>
                <a:path w="18288000" h="1371600">
                  <a:moveTo>
                    <a:pt x="0" y="0"/>
                  </a:moveTo>
                  <a:lnTo>
                    <a:pt x="18288000" y="0"/>
                  </a:lnTo>
                  <a:lnTo>
                    <a:pt x="18288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8288000" cy="1381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Simple, proven tools — built to ship fast.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0595" y="3213735"/>
            <a:ext cx="2954274" cy="6054090"/>
            <a:chOff x="0" y="0"/>
            <a:chExt cx="3939032" cy="8072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39032" cy="8072120"/>
            </a:xfrm>
            <a:custGeom>
              <a:avLst/>
              <a:gdLst/>
              <a:ahLst/>
              <a:cxnLst/>
              <a:rect l="l" t="t" r="r" b="b"/>
              <a:pathLst>
                <a:path w="3939032" h="80721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718179" y="0"/>
                  </a:lnTo>
                  <a:cubicBezTo>
                    <a:pt x="3840099" y="0"/>
                    <a:pt x="3939032" y="98933"/>
                    <a:pt x="3939032" y="220853"/>
                  </a:cubicBezTo>
                  <a:lnTo>
                    <a:pt x="3939032" y="7851267"/>
                  </a:lnTo>
                  <a:cubicBezTo>
                    <a:pt x="3939032" y="7973187"/>
                    <a:pt x="3840099" y="8072120"/>
                    <a:pt x="3718179" y="8072120"/>
                  </a:cubicBezTo>
                  <a:lnTo>
                    <a:pt x="220853" y="8072120"/>
                  </a:lnTo>
                  <a:cubicBezTo>
                    <a:pt x="98933" y="8072120"/>
                    <a:pt x="0" y="7973187"/>
                    <a:pt x="0" y="7851267"/>
                  </a:cubicBezTo>
                  <a:close/>
                </a:path>
              </a:pathLst>
            </a:custGeom>
            <a:solidFill>
              <a:srgbClr val="0B2E2B"/>
            </a:solidFill>
            <a:ln w="19050" cap="sq">
              <a:solidFill>
                <a:srgbClr val="215750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844802" y="3771900"/>
            <a:ext cx="1165860" cy="1165860"/>
            <a:chOff x="0" y="0"/>
            <a:chExt cx="1554480" cy="15544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36267" y="4063365"/>
            <a:ext cx="582930" cy="582930"/>
            <a:chOff x="0" y="0"/>
            <a:chExt cx="777240" cy="777240"/>
          </a:xfrm>
        </p:grpSpPr>
        <p:sp>
          <p:nvSpPr>
            <p:cNvPr id="13" name="Freeform 13" descr="/home/claude/assets/icons/react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24712" y="5349240"/>
            <a:ext cx="2606040" cy="617220"/>
            <a:chOff x="0" y="0"/>
            <a:chExt cx="3474720" cy="8229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74720" cy="822960"/>
            </a:xfrm>
            <a:custGeom>
              <a:avLst/>
              <a:gdLst/>
              <a:ahLst/>
              <a:cxnLst/>
              <a:rect l="l" t="t" r="r" b="b"/>
              <a:pathLst>
                <a:path w="3474720" h="822960">
                  <a:moveTo>
                    <a:pt x="0" y="0"/>
                  </a:moveTo>
                  <a:lnTo>
                    <a:pt x="3474720" y="0"/>
                  </a:lnTo>
                  <a:lnTo>
                    <a:pt x="3474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347472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React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07008" y="6172200"/>
            <a:ext cx="2441448" cy="2606040"/>
            <a:chOff x="0" y="0"/>
            <a:chExt cx="3255264" cy="34747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255264" cy="3474720"/>
            </a:xfrm>
            <a:custGeom>
              <a:avLst/>
              <a:gdLst/>
              <a:ahLst/>
              <a:cxnLst/>
              <a:rect l="l" t="t" r="r" b="b"/>
              <a:pathLst>
                <a:path w="3255264" h="3474720">
                  <a:moveTo>
                    <a:pt x="0" y="0"/>
                  </a:moveTo>
                  <a:lnTo>
                    <a:pt x="3255264" y="0"/>
                  </a:lnTo>
                  <a:lnTo>
                    <a:pt x="3255264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953" r="-869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255264" cy="3531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UI &amp; patient/doctor screens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97299" y="3213735"/>
            <a:ext cx="2954274" cy="6054090"/>
            <a:chOff x="0" y="0"/>
            <a:chExt cx="3939032" cy="8072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39032" cy="8072120"/>
            </a:xfrm>
            <a:custGeom>
              <a:avLst/>
              <a:gdLst/>
              <a:ahLst/>
              <a:cxnLst/>
              <a:rect l="l" t="t" r="r" b="b"/>
              <a:pathLst>
                <a:path w="3939032" h="80721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718179" y="0"/>
                  </a:lnTo>
                  <a:cubicBezTo>
                    <a:pt x="3840099" y="0"/>
                    <a:pt x="3939032" y="98933"/>
                    <a:pt x="3939032" y="220853"/>
                  </a:cubicBezTo>
                  <a:lnTo>
                    <a:pt x="3939032" y="7851267"/>
                  </a:lnTo>
                  <a:cubicBezTo>
                    <a:pt x="3939032" y="7973187"/>
                    <a:pt x="3840099" y="8072120"/>
                    <a:pt x="3718179" y="8072120"/>
                  </a:cubicBezTo>
                  <a:lnTo>
                    <a:pt x="220853" y="8072120"/>
                  </a:lnTo>
                  <a:cubicBezTo>
                    <a:pt x="98933" y="8072120"/>
                    <a:pt x="0" y="7973187"/>
                    <a:pt x="0" y="7851267"/>
                  </a:cubicBezTo>
                  <a:close/>
                </a:path>
              </a:pathLst>
            </a:custGeom>
            <a:solidFill>
              <a:srgbClr val="133F3A"/>
            </a:solidFill>
            <a:ln w="19050" cap="sq">
              <a:solidFill>
                <a:srgbClr val="215750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191506" y="3771900"/>
            <a:ext cx="1165860" cy="1165860"/>
            <a:chOff x="0" y="0"/>
            <a:chExt cx="1554480" cy="155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82971" y="4063365"/>
            <a:ext cx="582930" cy="582930"/>
            <a:chOff x="0" y="0"/>
            <a:chExt cx="777240" cy="777240"/>
          </a:xfrm>
        </p:grpSpPr>
        <p:sp>
          <p:nvSpPr>
            <p:cNvPr id="25" name="Freeform 25" descr="/home/claude/assets/icons/nod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71416" y="5349240"/>
            <a:ext cx="2606040" cy="617220"/>
            <a:chOff x="0" y="0"/>
            <a:chExt cx="3474720" cy="8229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474720" cy="822960"/>
            </a:xfrm>
            <a:custGeom>
              <a:avLst/>
              <a:gdLst/>
              <a:ahLst/>
              <a:cxnLst/>
              <a:rect l="l" t="t" r="r" b="b"/>
              <a:pathLst>
                <a:path w="3474720" h="822960">
                  <a:moveTo>
                    <a:pt x="0" y="0"/>
                  </a:moveTo>
                  <a:lnTo>
                    <a:pt x="3474720" y="0"/>
                  </a:lnTo>
                  <a:lnTo>
                    <a:pt x="3474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347472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Node.js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53712" y="6172200"/>
            <a:ext cx="2441448" cy="2606040"/>
            <a:chOff x="0" y="0"/>
            <a:chExt cx="3255264" cy="34747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255264" cy="3474720"/>
            </a:xfrm>
            <a:custGeom>
              <a:avLst/>
              <a:gdLst/>
              <a:ahLst/>
              <a:cxnLst/>
              <a:rect l="l" t="t" r="r" b="b"/>
              <a:pathLst>
                <a:path w="3255264" h="3474720">
                  <a:moveTo>
                    <a:pt x="0" y="0"/>
                  </a:moveTo>
                  <a:lnTo>
                    <a:pt x="3255264" y="0"/>
                  </a:lnTo>
                  <a:lnTo>
                    <a:pt x="3255264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953" r="-869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3255264" cy="3531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API &amp; reminder scheduling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44003" y="3213735"/>
            <a:ext cx="2954274" cy="6054090"/>
            <a:chOff x="0" y="0"/>
            <a:chExt cx="3939032" cy="8072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39032" cy="8072120"/>
            </a:xfrm>
            <a:custGeom>
              <a:avLst/>
              <a:gdLst/>
              <a:ahLst/>
              <a:cxnLst/>
              <a:rect l="l" t="t" r="r" b="b"/>
              <a:pathLst>
                <a:path w="3939032" h="80721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718179" y="0"/>
                  </a:lnTo>
                  <a:cubicBezTo>
                    <a:pt x="3840099" y="0"/>
                    <a:pt x="3939032" y="98933"/>
                    <a:pt x="3939032" y="220853"/>
                  </a:cubicBezTo>
                  <a:lnTo>
                    <a:pt x="3939032" y="7851267"/>
                  </a:lnTo>
                  <a:cubicBezTo>
                    <a:pt x="3939032" y="7973187"/>
                    <a:pt x="3840099" y="8072120"/>
                    <a:pt x="3718179" y="8072120"/>
                  </a:cubicBezTo>
                  <a:lnTo>
                    <a:pt x="220853" y="8072120"/>
                  </a:lnTo>
                  <a:cubicBezTo>
                    <a:pt x="98933" y="8072120"/>
                    <a:pt x="0" y="7973187"/>
                    <a:pt x="0" y="7851267"/>
                  </a:cubicBezTo>
                  <a:close/>
                </a:path>
              </a:pathLst>
            </a:custGeom>
            <a:solidFill>
              <a:srgbClr val="0B2E2B"/>
            </a:solidFill>
            <a:ln w="19050" cap="sq">
              <a:solidFill>
                <a:srgbClr val="215750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38210" y="3771900"/>
            <a:ext cx="1165860" cy="1165860"/>
            <a:chOff x="0" y="0"/>
            <a:chExt cx="1554480" cy="15544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829675" y="4063365"/>
            <a:ext cx="582930" cy="582930"/>
            <a:chOff x="0" y="0"/>
            <a:chExt cx="777240" cy="777240"/>
          </a:xfrm>
        </p:grpSpPr>
        <p:sp>
          <p:nvSpPr>
            <p:cNvPr id="37" name="Freeform 37" descr="/home/claude/assets/icons/database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18120" y="5349240"/>
            <a:ext cx="2606040" cy="617220"/>
            <a:chOff x="0" y="0"/>
            <a:chExt cx="3474720" cy="8229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474720" cy="822960"/>
            </a:xfrm>
            <a:custGeom>
              <a:avLst/>
              <a:gdLst/>
              <a:ahLst/>
              <a:cxnLst/>
              <a:rect l="l" t="t" r="r" b="b"/>
              <a:pathLst>
                <a:path w="3474720" h="822960">
                  <a:moveTo>
                    <a:pt x="0" y="0"/>
                  </a:moveTo>
                  <a:lnTo>
                    <a:pt x="3474720" y="0"/>
                  </a:lnTo>
                  <a:lnTo>
                    <a:pt x="3474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347472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Supabase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900416" y="6172200"/>
            <a:ext cx="2441448" cy="2606040"/>
            <a:chOff x="0" y="0"/>
            <a:chExt cx="3255264" cy="34747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255264" cy="3474720"/>
            </a:xfrm>
            <a:custGeom>
              <a:avLst/>
              <a:gdLst/>
              <a:ahLst/>
              <a:cxnLst/>
              <a:rect l="l" t="t" r="r" b="b"/>
              <a:pathLst>
                <a:path w="3255264" h="3474720">
                  <a:moveTo>
                    <a:pt x="0" y="0"/>
                  </a:moveTo>
                  <a:lnTo>
                    <a:pt x="3255264" y="0"/>
                  </a:lnTo>
                  <a:lnTo>
                    <a:pt x="3255264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953" r="-869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57150"/>
              <a:ext cx="3255264" cy="3531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Patient, reading &amp; appointment data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990707" y="3213735"/>
            <a:ext cx="2954274" cy="6054090"/>
            <a:chOff x="0" y="0"/>
            <a:chExt cx="3939032" cy="80721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939032" cy="8072120"/>
            </a:xfrm>
            <a:custGeom>
              <a:avLst/>
              <a:gdLst/>
              <a:ahLst/>
              <a:cxnLst/>
              <a:rect l="l" t="t" r="r" b="b"/>
              <a:pathLst>
                <a:path w="3939032" h="80721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718179" y="0"/>
                  </a:lnTo>
                  <a:cubicBezTo>
                    <a:pt x="3840099" y="0"/>
                    <a:pt x="3939032" y="98933"/>
                    <a:pt x="3939032" y="220853"/>
                  </a:cubicBezTo>
                  <a:lnTo>
                    <a:pt x="3939032" y="7851267"/>
                  </a:lnTo>
                  <a:cubicBezTo>
                    <a:pt x="3939032" y="7973187"/>
                    <a:pt x="3840099" y="8072120"/>
                    <a:pt x="3718179" y="8072120"/>
                  </a:cubicBezTo>
                  <a:lnTo>
                    <a:pt x="220853" y="8072120"/>
                  </a:lnTo>
                  <a:cubicBezTo>
                    <a:pt x="98933" y="8072120"/>
                    <a:pt x="0" y="7973187"/>
                    <a:pt x="0" y="7851267"/>
                  </a:cubicBezTo>
                  <a:close/>
                </a:path>
              </a:pathLst>
            </a:custGeom>
            <a:solidFill>
              <a:srgbClr val="133F3A"/>
            </a:solidFill>
            <a:ln w="19050" cap="sq">
              <a:solidFill>
                <a:srgbClr val="215750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884914" y="3771900"/>
            <a:ext cx="1165860" cy="1165860"/>
            <a:chOff x="0" y="0"/>
            <a:chExt cx="1554480" cy="15544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176379" y="4063365"/>
            <a:ext cx="582930" cy="582930"/>
            <a:chOff x="0" y="0"/>
            <a:chExt cx="777240" cy="777240"/>
          </a:xfrm>
        </p:grpSpPr>
        <p:sp>
          <p:nvSpPr>
            <p:cNvPr id="49" name="Freeform 49" descr="/home/claude/assets/icons/sms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164824" y="5349240"/>
            <a:ext cx="2606040" cy="617220"/>
            <a:chOff x="0" y="0"/>
            <a:chExt cx="3474720" cy="8229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474720" cy="822960"/>
            </a:xfrm>
            <a:custGeom>
              <a:avLst/>
              <a:gdLst/>
              <a:ahLst/>
              <a:cxnLst/>
              <a:rect l="l" t="t" r="r" b="b"/>
              <a:pathLst>
                <a:path w="3474720" h="822960">
                  <a:moveTo>
                    <a:pt x="0" y="0"/>
                  </a:moveTo>
                  <a:lnTo>
                    <a:pt x="3474720" y="0"/>
                  </a:lnTo>
                  <a:lnTo>
                    <a:pt x="3474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347472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Twilio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247120" y="6172200"/>
            <a:ext cx="2441448" cy="2606040"/>
            <a:chOff x="0" y="0"/>
            <a:chExt cx="3255264" cy="34747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255264" cy="3474720"/>
            </a:xfrm>
            <a:custGeom>
              <a:avLst/>
              <a:gdLst/>
              <a:ahLst/>
              <a:cxnLst/>
              <a:rect l="l" t="t" r="r" b="b"/>
              <a:pathLst>
                <a:path w="3255264" h="3474720">
                  <a:moveTo>
                    <a:pt x="0" y="0"/>
                  </a:moveTo>
                  <a:lnTo>
                    <a:pt x="3255264" y="0"/>
                  </a:lnTo>
                  <a:lnTo>
                    <a:pt x="3255264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953" r="-869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3255264" cy="3531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650" dirty="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WhatsApp reminders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337411" y="3213735"/>
            <a:ext cx="2954274" cy="6054090"/>
            <a:chOff x="0" y="0"/>
            <a:chExt cx="3939032" cy="80721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939032" cy="8072120"/>
            </a:xfrm>
            <a:custGeom>
              <a:avLst/>
              <a:gdLst/>
              <a:ahLst/>
              <a:cxnLst/>
              <a:rect l="l" t="t" r="r" b="b"/>
              <a:pathLst>
                <a:path w="3939032" h="8072120">
                  <a:moveTo>
                    <a:pt x="0" y="220853"/>
                  </a:moveTo>
                  <a:cubicBezTo>
                    <a:pt x="0" y="98933"/>
                    <a:pt x="98933" y="0"/>
                    <a:pt x="220853" y="0"/>
                  </a:cubicBezTo>
                  <a:lnTo>
                    <a:pt x="3718179" y="0"/>
                  </a:lnTo>
                  <a:cubicBezTo>
                    <a:pt x="3840099" y="0"/>
                    <a:pt x="3939032" y="98933"/>
                    <a:pt x="3939032" y="220853"/>
                  </a:cubicBezTo>
                  <a:lnTo>
                    <a:pt x="3939032" y="7851267"/>
                  </a:lnTo>
                  <a:cubicBezTo>
                    <a:pt x="3939032" y="7973187"/>
                    <a:pt x="3840099" y="8072120"/>
                    <a:pt x="3718179" y="8072120"/>
                  </a:cubicBezTo>
                  <a:lnTo>
                    <a:pt x="220853" y="8072120"/>
                  </a:lnTo>
                  <a:cubicBezTo>
                    <a:pt x="98933" y="8072120"/>
                    <a:pt x="0" y="7973187"/>
                    <a:pt x="0" y="7851267"/>
                  </a:cubicBezTo>
                  <a:close/>
                </a:path>
              </a:pathLst>
            </a:custGeom>
            <a:solidFill>
              <a:srgbClr val="0B2E2B"/>
            </a:solidFill>
            <a:ln w="19050" cap="sq">
              <a:solidFill>
                <a:srgbClr val="215750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5231618" y="3771900"/>
            <a:ext cx="1165860" cy="1165860"/>
            <a:chOff x="0" y="0"/>
            <a:chExt cx="1554480" cy="15544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5523083" y="4063365"/>
            <a:ext cx="582930" cy="582930"/>
            <a:chOff x="0" y="0"/>
            <a:chExt cx="777240" cy="777240"/>
          </a:xfrm>
        </p:grpSpPr>
        <p:sp>
          <p:nvSpPr>
            <p:cNvPr id="61" name="Freeform 61" descr="/home/claude/assets/icons/chartbar.png"/>
            <p:cNvSpPr/>
            <p:nvPr/>
          </p:nvSpPr>
          <p:spPr>
            <a:xfrm>
              <a:off x="0" y="0"/>
              <a:ext cx="777240" cy="777240"/>
            </a:xfrm>
            <a:custGeom>
              <a:avLst/>
              <a:gdLst/>
              <a:ahLst/>
              <a:cxnLst/>
              <a:rect l="l" t="t" r="r" b="b"/>
              <a:pathLst>
                <a:path w="777240" h="777240">
                  <a:moveTo>
                    <a:pt x="0" y="0"/>
                  </a:moveTo>
                  <a:lnTo>
                    <a:pt x="777240" y="0"/>
                  </a:lnTo>
                  <a:lnTo>
                    <a:pt x="777240" y="777240"/>
                  </a:lnTo>
                  <a:lnTo>
                    <a:pt x="0" y="777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511528" y="5349240"/>
            <a:ext cx="2606040" cy="617220"/>
            <a:chOff x="0" y="0"/>
            <a:chExt cx="3474720" cy="82296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474720" cy="822960"/>
            </a:xfrm>
            <a:custGeom>
              <a:avLst/>
              <a:gdLst/>
              <a:ahLst/>
              <a:cxnLst/>
              <a:rect l="l" t="t" r="r" b="b"/>
              <a:pathLst>
                <a:path w="3474720" h="822960">
                  <a:moveTo>
                    <a:pt x="0" y="0"/>
                  </a:moveTo>
                  <a:lnTo>
                    <a:pt x="3474720" y="0"/>
                  </a:lnTo>
                  <a:lnTo>
                    <a:pt x="3474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70" b="-32270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9525"/>
              <a:ext cx="3474720" cy="832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Recharts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4593824" y="6172200"/>
            <a:ext cx="2441448" cy="2606040"/>
            <a:chOff x="0" y="0"/>
            <a:chExt cx="3255264" cy="347472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255264" cy="3474720"/>
            </a:xfrm>
            <a:custGeom>
              <a:avLst/>
              <a:gdLst/>
              <a:ahLst/>
              <a:cxnLst/>
              <a:rect l="l" t="t" r="r" b="b"/>
              <a:pathLst>
                <a:path w="3255264" h="3474720">
                  <a:moveTo>
                    <a:pt x="0" y="0"/>
                  </a:moveTo>
                  <a:lnTo>
                    <a:pt x="3255264" y="0"/>
                  </a:lnTo>
                  <a:lnTo>
                    <a:pt x="3255264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953" r="-8695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3255264" cy="35318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0"/>
                </a:lnSpc>
              </a:pPr>
              <a:r>
                <a:rPr lang="en-US" sz="16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Patient trend visualizations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10560" y="-2194560"/>
            <a:ext cx="5486400" cy="5486400"/>
            <a:chOff x="0" y="0"/>
            <a:chExt cx="7315200" cy="731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84198" y="3984498"/>
            <a:ext cx="480060" cy="480060"/>
            <a:chOff x="0" y="0"/>
            <a:chExt cx="640080" cy="640080"/>
          </a:xfrm>
        </p:grpSpPr>
        <p:sp>
          <p:nvSpPr>
            <p:cNvPr id="5" name="Freeform 5" descr="/home/claude/assets/icons/signal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84198" y="7207758"/>
            <a:ext cx="480060" cy="480060"/>
            <a:chOff x="0" y="0"/>
            <a:chExt cx="640080" cy="640080"/>
          </a:xfrm>
        </p:grpSpPr>
        <p:sp>
          <p:nvSpPr>
            <p:cNvPr id="7" name="Freeform 7" descr="/home/claude/assets/icons/mic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01992" y="9395460"/>
            <a:ext cx="237636" cy="237636"/>
            <a:chOff x="0" y="0"/>
            <a:chExt cx="640080" cy="640080"/>
          </a:xfrm>
        </p:grpSpPr>
        <p:sp>
          <p:nvSpPr>
            <p:cNvPr id="9" name="Freeform 9" descr="/home/claude/assets/icons/pills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849139" y="-2743200"/>
            <a:ext cx="5486400" cy="5486400"/>
            <a:chOff x="0" y="0"/>
            <a:chExt cx="7315200" cy="7315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5B4EE-24A3-A5F9-76D1-8CA2C2CDC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796" y="0"/>
            <a:ext cx="16610414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10560" y="-2194560"/>
            <a:ext cx="5486400" cy="5486400"/>
            <a:chOff x="0" y="0"/>
            <a:chExt cx="7315200" cy="731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0120" y="754380"/>
            <a:ext cx="8229600" cy="480060"/>
            <a:chOff x="0" y="0"/>
            <a:chExt cx="10972800" cy="6400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972800" cy="640080"/>
            </a:xfrm>
            <a:custGeom>
              <a:avLst/>
              <a:gdLst/>
              <a:ahLst/>
              <a:cxnLst/>
              <a:rect l="l" t="t" r="r" b="b"/>
              <a:pathLst>
                <a:path w="10972800" h="64008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4029" b="-284029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30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THIS GOES NEXT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32688" y="1165860"/>
            <a:ext cx="11795760" cy="1028700"/>
            <a:chOff x="0" y="0"/>
            <a:chExt cx="15727680" cy="1371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27680" cy="1371600"/>
            </a:xfrm>
            <a:custGeom>
              <a:avLst/>
              <a:gdLst/>
              <a:ahLst/>
              <a:cxnLst/>
              <a:rect l="l" t="t" r="r" b="b"/>
              <a:pathLst>
                <a:path w="15727680" h="1371600">
                  <a:moveTo>
                    <a:pt x="0" y="0"/>
                  </a:moveTo>
                  <a:lnTo>
                    <a:pt x="15727680" y="0"/>
                  </a:lnTo>
                  <a:lnTo>
                    <a:pt x="157276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3428" b="-173428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5727680" cy="1390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What’s next for CareTrack.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0120" y="2194560"/>
            <a:ext cx="14950440" cy="685800"/>
            <a:chOff x="0" y="0"/>
            <a:chExt cx="1993392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933920" cy="914400"/>
            </a:xfrm>
            <a:custGeom>
              <a:avLst/>
              <a:gdLst/>
              <a:ahLst/>
              <a:cxnLst/>
              <a:rect l="l" t="t" r="r" b="b"/>
              <a:pathLst>
                <a:path w="19933920" h="914400">
                  <a:moveTo>
                    <a:pt x="0" y="0"/>
                  </a:moveTo>
                  <a:lnTo>
                    <a:pt x="19933920" y="0"/>
                  </a:lnTo>
                  <a:lnTo>
                    <a:pt x="19933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4773" b="-374773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93392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roadmap item builds on the same core loop — more signal, more reach, more languages.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0120" y="3360420"/>
            <a:ext cx="8023860" cy="2811780"/>
            <a:chOff x="0" y="0"/>
            <a:chExt cx="10698480" cy="3749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98480" cy="3749040"/>
            </a:xfrm>
            <a:custGeom>
              <a:avLst/>
              <a:gdLst/>
              <a:ahLst/>
              <a:cxnLst/>
              <a:rect l="l" t="t" r="r" b="b"/>
              <a:pathLst>
                <a:path w="10698480" h="3749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529584"/>
                  </a:lnTo>
                  <a:cubicBezTo>
                    <a:pt x="10698480" y="3650742"/>
                    <a:pt x="10600182" y="3749040"/>
                    <a:pt x="1047902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4168" y="3744468"/>
            <a:ext cx="960120" cy="960120"/>
            <a:chOff x="0" y="0"/>
            <a:chExt cx="1280160" cy="12801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84198" y="3984498"/>
            <a:ext cx="480060" cy="480060"/>
            <a:chOff x="0" y="0"/>
            <a:chExt cx="640080" cy="640080"/>
          </a:xfrm>
        </p:grpSpPr>
        <p:sp>
          <p:nvSpPr>
            <p:cNvPr id="18" name="Freeform 18" descr="/home/claude/assets/icons/signal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537460" y="3662172"/>
            <a:ext cx="6103620" cy="548640"/>
            <a:chOff x="0" y="0"/>
            <a:chExt cx="813816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8138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Risk Prediction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37460" y="4210812"/>
            <a:ext cx="6103620" cy="1645920"/>
            <a:chOff x="0" y="0"/>
            <a:chExt cx="8138160" cy="21945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38160" cy="2194560"/>
            </a:xfrm>
            <a:custGeom>
              <a:avLst/>
              <a:gdLst/>
              <a:ahLst/>
              <a:cxnLst/>
              <a:rect l="l" t="t" r="r" b="b"/>
              <a:pathLst>
                <a:path w="8138160" h="21945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57" b="-2225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813816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Flag patients before problems escalate, using trend history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395460" y="3360420"/>
            <a:ext cx="8023860" cy="2811780"/>
            <a:chOff x="0" y="0"/>
            <a:chExt cx="10698480" cy="37490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98480" cy="3749040"/>
            </a:xfrm>
            <a:custGeom>
              <a:avLst/>
              <a:gdLst/>
              <a:ahLst/>
              <a:cxnLst/>
              <a:rect l="l" t="t" r="r" b="b"/>
              <a:pathLst>
                <a:path w="10698480" h="3749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529584"/>
                  </a:lnTo>
                  <a:cubicBezTo>
                    <a:pt x="10698480" y="3650742"/>
                    <a:pt x="10600182" y="3749040"/>
                    <a:pt x="1047902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779508" y="3744468"/>
            <a:ext cx="960120" cy="960120"/>
            <a:chOff x="0" y="0"/>
            <a:chExt cx="1280160" cy="12801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19538" y="3984498"/>
            <a:ext cx="480060" cy="480060"/>
            <a:chOff x="0" y="0"/>
            <a:chExt cx="640080" cy="640080"/>
          </a:xfrm>
        </p:grpSpPr>
        <p:sp>
          <p:nvSpPr>
            <p:cNvPr id="30" name="Freeform 30" descr="/home/claude/assets/icons/whatsapp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972800" y="3662172"/>
            <a:ext cx="6103620" cy="548640"/>
            <a:chOff x="0" y="0"/>
            <a:chExt cx="813816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8138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Family Care Circle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972800" y="4210812"/>
            <a:ext cx="6103620" cy="1645920"/>
            <a:chOff x="0" y="0"/>
            <a:chExt cx="8138160" cy="219456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38160" cy="2194560"/>
            </a:xfrm>
            <a:custGeom>
              <a:avLst/>
              <a:gdLst/>
              <a:ahLst/>
              <a:cxnLst/>
              <a:rect l="l" t="t" r="r" b="b"/>
              <a:pathLst>
                <a:path w="8138160" h="21945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57" b="-2225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813816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Alert a family member if a patient misses follow-up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60120" y="6583680"/>
            <a:ext cx="8023860" cy="2811780"/>
            <a:chOff x="0" y="0"/>
            <a:chExt cx="10698480" cy="37490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698480" cy="3749040"/>
            </a:xfrm>
            <a:custGeom>
              <a:avLst/>
              <a:gdLst/>
              <a:ahLst/>
              <a:cxnLst/>
              <a:rect l="l" t="t" r="r" b="b"/>
              <a:pathLst>
                <a:path w="10698480" h="3749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529584"/>
                  </a:lnTo>
                  <a:cubicBezTo>
                    <a:pt x="10698480" y="3650742"/>
                    <a:pt x="10600182" y="3749040"/>
                    <a:pt x="1047902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44168" y="6967728"/>
            <a:ext cx="960120" cy="960120"/>
            <a:chOff x="0" y="0"/>
            <a:chExt cx="1280160" cy="128016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F3D39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84198" y="7207758"/>
            <a:ext cx="480060" cy="480060"/>
            <a:chOff x="0" y="0"/>
            <a:chExt cx="640080" cy="640080"/>
          </a:xfrm>
        </p:grpSpPr>
        <p:sp>
          <p:nvSpPr>
            <p:cNvPr id="42" name="Freeform 42" descr="/home/claude/assets/icons/mic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537460" y="6885432"/>
            <a:ext cx="6103620" cy="548640"/>
            <a:chOff x="0" y="0"/>
            <a:chExt cx="813816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8138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 dirty="0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WhatsApp, Voice Reminders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537460" y="7434072"/>
            <a:ext cx="6103620" cy="1645920"/>
            <a:chOff x="0" y="0"/>
            <a:chExt cx="8138160" cy="21945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38160" cy="2194560"/>
            </a:xfrm>
            <a:custGeom>
              <a:avLst/>
              <a:gdLst/>
              <a:ahLst/>
              <a:cxnLst/>
              <a:rect l="l" t="t" r="r" b="b"/>
              <a:pathLst>
                <a:path w="8138160" h="21945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57" b="-2225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813816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 dirty="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Urdu, Punjabi, Pashto &amp; Sindhi voice reminders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95460" y="6583680"/>
            <a:ext cx="8023860" cy="2811780"/>
            <a:chOff x="0" y="0"/>
            <a:chExt cx="10698480" cy="37490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698480" cy="3749040"/>
            </a:xfrm>
            <a:custGeom>
              <a:avLst/>
              <a:gdLst/>
              <a:ahLst/>
              <a:cxnLst/>
              <a:rect l="l" t="t" r="r" b="b"/>
              <a:pathLst>
                <a:path w="10698480" h="37490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479024" y="0"/>
                  </a:lnTo>
                  <a:cubicBezTo>
                    <a:pt x="10600182" y="0"/>
                    <a:pt x="10698480" y="98298"/>
                    <a:pt x="10698480" y="219456"/>
                  </a:cubicBezTo>
                  <a:lnTo>
                    <a:pt x="10698480" y="3529584"/>
                  </a:lnTo>
                  <a:cubicBezTo>
                    <a:pt x="10698480" y="3650742"/>
                    <a:pt x="10600182" y="3749040"/>
                    <a:pt x="1047902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EFF7F4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79508" y="6967728"/>
            <a:ext cx="960120" cy="960120"/>
            <a:chOff x="0" y="0"/>
            <a:chExt cx="1280160" cy="128016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019538" y="7207758"/>
            <a:ext cx="480060" cy="480060"/>
            <a:chOff x="0" y="0"/>
            <a:chExt cx="640080" cy="640080"/>
          </a:xfrm>
        </p:grpSpPr>
        <p:sp>
          <p:nvSpPr>
            <p:cNvPr id="54" name="Freeform 54" descr="/home/claude/assets/icons/pills.png"/>
            <p:cNvSpPr/>
            <p:nvPr/>
          </p:nvSpPr>
          <p:spPr>
            <a:xfrm>
              <a:off x="0" y="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972800" y="6885432"/>
            <a:ext cx="6103620" cy="548640"/>
            <a:chOff x="0" y="0"/>
            <a:chExt cx="813816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38160" cy="731520"/>
            </a:xfrm>
            <a:custGeom>
              <a:avLst/>
              <a:gdLst/>
              <a:ahLst/>
              <a:cxnLst/>
              <a:rect l="l" t="t" r="r" b="b"/>
              <a:pathLst>
                <a:path w="8138160" h="731520">
                  <a:moveTo>
                    <a:pt x="0" y="0"/>
                  </a:moveTo>
                  <a:lnTo>
                    <a:pt x="8138160" y="0"/>
                  </a:lnTo>
                  <a:lnTo>
                    <a:pt x="8138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771" b="-16677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8138160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0"/>
                </a:lnSpc>
              </a:pPr>
              <a:r>
                <a:rPr lang="en-US" sz="2250" b="1">
                  <a:solidFill>
                    <a:srgbClr val="0F3D3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Pharmacy Integration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972800" y="7434072"/>
            <a:ext cx="6103620" cy="1645920"/>
            <a:chOff x="0" y="0"/>
            <a:chExt cx="8138160" cy="21945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38160" cy="2194560"/>
            </a:xfrm>
            <a:custGeom>
              <a:avLst/>
              <a:gdLst/>
              <a:ahLst/>
              <a:cxnLst/>
              <a:rect l="l" t="t" r="r" b="b"/>
              <a:pathLst>
                <a:path w="8138160" h="2194560">
                  <a:moveTo>
                    <a:pt x="0" y="0"/>
                  </a:moveTo>
                  <a:lnTo>
                    <a:pt x="8138160" y="0"/>
                  </a:lnTo>
                  <a:lnTo>
                    <a:pt x="81381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257" b="-2225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57150"/>
              <a:ext cx="8138160" cy="2251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725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Automatic medication refill reminders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7213580" y="9710928"/>
            <a:ext cx="822960" cy="411480"/>
            <a:chOff x="0" y="0"/>
            <a:chExt cx="109728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97280" cy="548640"/>
            </a:xfrm>
            <a:custGeom>
              <a:avLst/>
              <a:gdLst/>
              <a:ahLst/>
              <a:cxnLst/>
              <a:rect l="l" t="t" r="r" b="b"/>
              <a:pathLst>
                <a:path w="1097280" h="54864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r="-14151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7A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89120" y="6309360"/>
            <a:ext cx="10287000" cy="10287000"/>
            <a:chOff x="0" y="0"/>
            <a:chExt cx="13716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0" y="6858000"/>
                  </a:moveTo>
                  <a:cubicBezTo>
                    <a:pt x="0" y="3070479"/>
                    <a:pt x="3070479" y="0"/>
                    <a:pt x="6858000" y="0"/>
                  </a:cubicBezTo>
                  <a:cubicBezTo>
                    <a:pt x="10645521" y="0"/>
                    <a:pt x="13716000" y="3070479"/>
                    <a:pt x="13716000" y="6858000"/>
                  </a:cubicBezTo>
                  <a:cubicBezTo>
                    <a:pt x="13716000" y="10645521"/>
                    <a:pt x="10645521" y="13716000"/>
                    <a:pt x="6858000" y="13716000"/>
                  </a:cubicBezTo>
                  <a:cubicBezTo>
                    <a:pt x="3070479" y="13716000"/>
                    <a:pt x="0" y="10645521"/>
                    <a:pt x="0" y="6858000"/>
                  </a:cubicBezTo>
                  <a:close/>
                </a:path>
              </a:pathLst>
            </a:custGeom>
            <a:solidFill>
              <a:srgbClr val="0B2E2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676120" y="-3566160"/>
            <a:ext cx="7543800" cy="7543800"/>
            <a:chOff x="0" y="0"/>
            <a:chExt cx="10058400" cy="1005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58400" cy="10058400"/>
            </a:xfrm>
            <a:custGeom>
              <a:avLst/>
              <a:gdLst/>
              <a:ahLst/>
              <a:cxnLst/>
              <a:rect l="l" t="t" r="r" b="b"/>
              <a:pathLst>
                <a:path w="10058400" h="10058400">
                  <a:moveTo>
                    <a:pt x="0" y="5029200"/>
                  </a:moveTo>
                  <a:cubicBezTo>
                    <a:pt x="0" y="2251710"/>
                    <a:pt x="2251710" y="0"/>
                    <a:pt x="5029200" y="0"/>
                  </a:cubicBezTo>
                  <a:cubicBezTo>
                    <a:pt x="7806690" y="0"/>
                    <a:pt x="10058400" y="2251710"/>
                    <a:pt x="10058400" y="5029200"/>
                  </a:cubicBezTo>
                  <a:cubicBezTo>
                    <a:pt x="10058400" y="7806690"/>
                    <a:pt x="7806690" y="10058400"/>
                    <a:pt x="5029200" y="10058400"/>
                  </a:cubicBezTo>
                  <a:cubicBezTo>
                    <a:pt x="2251710" y="10058400"/>
                    <a:pt x="0" y="7806690"/>
                    <a:pt x="0" y="5029200"/>
                  </a:cubicBezTo>
                  <a:close/>
                </a:path>
              </a:pathLst>
            </a:custGeom>
            <a:solidFill>
              <a:srgbClr val="0B2E2B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0120" y="891540"/>
            <a:ext cx="850392" cy="850392"/>
            <a:chOff x="0" y="0"/>
            <a:chExt cx="1133856" cy="11338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856" cy="1133856"/>
            </a:xfrm>
            <a:custGeom>
              <a:avLst/>
              <a:gdLst/>
              <a:ahLst/>
              <a:cxn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8704" y="1070124"/>
            <a:ext cx="493224" cy="493224"/>
            <a:chOff x="0" y="0"/>
            <a:chExt cx="657631" cy="657631"/>
          </a:xfrm>
        </p:grpSpPr>
        <p:sp>
          <p:nvSpPr>
            <p:cNvPr id="9" name="Freeform 9" descr="/home/claude/assets/icons/heartbeat.png"/>
            <p:cNvSpPr/>
            <p:nvPr/>
          </p:nvSpPr>
          <p:spPr>
            <a:xfrm>
              <a:off x="0" y="0"/>
              <a:ext cx="657606" cy="657606"/>
            </a:xfrm>
            <a:custGeom>
              <a:avLst/>
              <a:gdLst/>
              <a:ahLst/>
              <a:cxnLst/>
              <a:rect l="l" t="t" r="r" b="b"/>
              <a:pathLst>
                <a:path w="657606" h="657606">
                  <a:moveTo>
                    <a:pt x="0" y="0"/>
                  </a:moveTo>
                  <a:lnTo>
                    <a:pt x="657606" y="0"/>
                  </a:lnTo>
                  <a:lnTo>
                    <a:pt x="657606" y="657606"/>
                  </a:lnTo>
                  <a:lnTo>
                    <a:pt x="0" y="657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3" b="-3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57400" y="754380"/>
            <a:ext cx="8229600" cy="960120"/>
            <a:chOff x="0" y="0"/>
            <a:chExt cx="10972800" cy="1280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72800" cy="1280160"/>
            </a:xfrm>
            <a:custGeom>
              <a:avLst/>
              <a:gdLst/>
              <a:ahLst/>
              <a:cxnLst/>
              <a:rect l="l" t="t" r="r" b="b"/>
              <a:pathLst>
                <a:path w="10972800" h="1280160">
                  <a:moveTo>
                    <a:pt x="0" y="0"/>
                  </a:moveTo>
                  <a:lnTo>
                    <a:pt x="10972800" y="0"/>
                  </a:lnTo>
                  <a:lnTo>
                    <a:pt x="10972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7014" b="-117014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09728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CareTrack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60120" y="3291840"/>
            <a:ext cx="9601200" cy="1508760"/>
            <a:chOff x="0" y="0"/>
            <a:chExt cx="12801600" cy="20116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01600" cy="2011680"/>
            </a:xfrm>
            <a:custGeom>
              <a:avLst/>
              <a:gdLst/>
              <a:ahLst/>
              <a:cxnLst/>
              <a:rect l="l" t="t" r="r" b="b"/>
              <a:pathLst>
                <a:path w="12801600" h="2011680">
                  <a:moveTo>
                    <a:pt x="0" y="0"/>
                  </a:moveTo>
                  <a:lnTo>
                    <a:pt x="12801600" y="0"/>
                  </a:lnTo>
                  <a:lnTo>
                    <a:pt x="12801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995" b="-7399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2801600" cy="20212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280"/>
                </a:lnSpc>
              </a:pPr>
              <a:r>
                <a:rPr lang="en-US" sz="69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7552" y="4869180"/>
            <a:ext cx="8915400" cy="754380"/>
            <a:chOff x="0" y="0"/>
            <a:chExt cx="11887200" cy="10058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887200" cy="1005840"/>
            </a:xfrm>
            <a:custGeom>
              <a:avLst/>
              <a:gdLst/>
              <a:ahLst/>
              <a:cxnLst/>
              <a:rect l="l" t="t" r="r" b="b"/>
              <a:pathLst>
                <a:path w="11887200" h="1005840">
                  <a:moveTo>
                    <a:pt x="0" y="0"/>
                  </a:moveTo>
                  <a:lnTo>
                    <a:pt x="11887200" y="0"/>
                  </a:lnTo>
                  <a:lnTo>
                    <a:pt x="11887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0277" b="-180277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887200" cy="10534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CareTrack — never miss a follow-up.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60120" y="6309360"/>
            <a:ext cx="7680960" cy="960120"/>
            <a:chOff x="0" y="0"/>
            <a:chExt cx="10241280" cy="12801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241280" cy="1280160"/>
            </a:xfrm>
            <a:custGeom>
              <a:avLst/>
              <a:gdLst/>
              <a:ahLst/>
              <a:cxnLst/>
              <a:rect l="l" t="t" r="r" b="b"/>
              <a:pathLst>
                <a:path w="10241280" h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lnTo>
                    <a:pt x="9601200" y="0"/>
                  </a:lnTo>
                  <a:cubicBezTo>
                    <a:pt x="9954768" y="0"/>
                    <a:pt x="10241280" y="286512"/>
                    <a:pt x="10241280" y="640080"/>
                  </a:cubicBezTo>
                  <a:cubicBezTo>
                    <a:pt x="10241280" y="993648"/>
                    <a:pt x="9954768" y="1280160"/>
                    <a:pt x="9601200" y="1280160"/>
                  </a:cubicBezTo>
                  <a:lnTo>
                    <a:pt x="640080" y="1280160"/>
                  </a:ln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8734A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44168" y="6624828"/>
            <a:ext cx="329184" cy="329184"/>
            <a:chOff x="0" y="0"/>
            <a:chExt cx="438912" cy="438912"/>
          </a:xfrm>
        </p:grpSpPr>
        <p:sp>
          <p:nvSpPr>
            <p:cNvPr id="22" name="Freeform 22" descr="/home/claude/assets/icons/play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51660" y="6309360"/>
            <a:ext cx="3291840" cy="960120"/>
            <a:chOff x="0" y="0"/>
            <a:chExt cx="4389120" cy="12801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89120" cy="1280160"/>
            </a:xfrm>
            <a:custGeom>
              <a:avLst/>
              <a:gdLst/>
              <a:ahLst/>
              <a:cxnLst/>
              <a:rect l="l" t="t" r="r" b="b"/>
              <a:pathLst>
                <a:path w="4389120" h="1280160">
                  <a:moveTo>
                    <a:pt x="0" y="0"/>
                  </a:moveTo>
                  <a:lnTo>
                    <a:pt x="4389120" y="0"/>
                  </a:lnTo>
                  <a:lnTo>
                    <a:pt x="4389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805" b="-16805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38912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 dirty="0">
                  <a:solidFill>
                    <a:schemeClr val="bg1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Try the live demo</a:t>
              </a:r>
              <a:endParaRPr lang="en-US" sz="2025" b="1" dirty="0">
                <a:solidFill>
                  <a:schemeClr val="bg1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87552" y="7612380"/>
            <a:ext cx="356616" cy="356616"/>
            <a:chOff x="0" y="0"/>
            <a:chExt cx="475488" cy="475488"/>
          </a:xfrm>
        </p:grpSpPr>
        <p:sp>
          <p:nvSpPr>
            <p:cNvPr id="27" name="Freeform 27" descr="/home/claude/assets/icons/github.png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08760" y="7516368"/>
            <a:ext cx="6858000" cy="548640"/>
            <a:chOff x="0" y="0"/>
            <a:chExt cx="914400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44000" cy="731520"/>
            </a:xfrm>
            <a:custGeom>
              <a:avLst/>
              <a:gdLst/>
              <a:ahLst/>
              <a:cxnLst/>
              <a:rect l="l" t="t" r="r" b="b"/>
              <a:pathLst>
                <a:path w="9144000" h="73152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3562" b="-193562"/>
              </a:stretch>
            </a:blipFill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2250"/>
                </a:lnSpc>
              </a:pPr>
              <a:r>
                <a:rPr lang="en-US" sz="1875" dirty="0">
                  <a:solidFill>
                    <a:srgbClr val="CFE8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https://github.com/ahmadzulfiqar001/CareTrack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550140" y="2331720"/>
            <a:ext cx="4594860" cy="4059936"/>
            <a:chOff x="0" y="0"/>
            <a:chExt cx="6126480" cy="5413248"/>
          </a:xfrm>
        </p:grpSpPr>
        <p:sp>
          <p:nvSpPr>
            <p:cNvPr id="32" name="Freeform 32" descr="/home/claude/assets/phone_mockup.png"/>
            <p:cNvSpPr/>
            <p:nvPr/>
          </p:nvSpPr>
          <p:spPr>
            <a:xfrm>
              <a:off x="0" y="0"/>
              <a:ext cx="6126480" cy="5413248"/>
            </a:xfrm>
            <a:custGeom>
              <a:avLst/>
              <a:gdLst/>
              <a:ahLst/>
              <a:cxnLst/>
              <a:rect l="l" t="t" r="r" b="b"/>
              <a:pathLst>
                <a:path w="6126480" h="5413248">
                  <a:moveTo>
                    <a:pt x="0" y="0"/>
                  </a:moveTo>
                  <a:lnTo>
                    <a:pt x="6126480" y="0"/>
                  </a:lnTo>
                  <a:lnTo>
                    <a:pt x="6126480" y="5413248"/>
                  </a:lnTo>
                  <a:lnTo>
                    <a:pt x="0" y="5413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4" r="-14"/>
              </a:stretch>
            </a:blipFill>
          </p:spPr>
          <p:txBody>
            <a:bodyPr/>
            <a:lstStyle/>
            <a:p>
              <a:endParaRPr lang="en-PK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734</Words>
  <Application>Microsoft Office PowerPoint</Application>
  <PresentationFormat>Custom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Cambria Bold</vt:lpstr>
      <vt:lpstr>Calibri (MS) Italics</vt:lpstr>
      <vt:lpstr>Arial</vt:lpstr>
      <vt:lpstr>Calibri</vt:lpstr>
      <vt:lpstr>Cambria Bold Italics</vt:lpstr>
      <vt:lpstr>Calibri (MS)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CareTrack_Pitch_Deck_Redesigned.pptx</dc:title>
  <dc:creator>Ibrahim Usman</dc:creator>
  <cp:lastModifiedBy>Ibrahim Usman</cp:lastModifiedBy>
  <cp:revision>2</cp:revision>
  <dcterms:created xsi:type="dcterms:W3CDTF">2006-08-16T00:00:00Z</dcterms:created>
  <dcterms:modified xsi:type="dcterms:W3CDTF">2026-09-13T10:30:47Z</dcterms:modified>
  <dc:identifier>DAHVEYUyx94</dc:identifier>
</cp:coreProperties>
</file>